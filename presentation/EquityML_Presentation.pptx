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81" r:id="rId15"/>
    <p:sldId id="286" r:id="rId16"/>
    <p:sldId id="283" r:id="rId17"/>
    <p:sldId id="288" r:id="rId18"/>
    <p:sldId id="284" r:id="rId19"/>
    <p:sldId id="289" r:id="rId20"/>
    <p:sldId id="285" r:id="rId21"/>
    <p:sldId id="287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187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E8248B10-7020-C7BB-B511-1E8A6526A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D750FED0-1389-91B9-83AE-5EEEB4066E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A148C47A-2B3D-0677-5F22-A7A1432863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5646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9BFE01D9-BAEA-B186-A597-08675D5B2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>
            <a:extLst>
              <a:ext uri="{FF2B5EF4-FFF2-40B4-BE49-F238E27FC236}">
                <a16:creationId xmlns:a16="http://schemas.microsoft.com/office/drawing/2014/main" id="{3CCD7AEC-DAB5-6A03-6FB1-6292AAD24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>
            <a:extLst>
              <a:ext uri="{FF2B5EF4-FFF2-40B4-BE49-F238E27FC236}">
                <a16:creationId xmlns:a16="http://schemas.microsoft.com/office/drawing/2014/main" id="{57B774E1-9093-D8A5-CF47-A0B13E582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9962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AE349439-4AED-5B0E-C8B5-673F24B6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658DB43C-8C96-B2B4-FECA-471BE19C6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>
            <a:extLst>
              <a:ext uri="{FF2B5EF4-FFF2-40B4-BE49-F238E27FC236}">
                <a16:creationId xmlns:a16="http://schemas.microsoft.com/office/drawing/2014/main" id="{85794042-44EB-9D1B-A9D5-D651B25ACA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6141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AAEED8CA-525F-5D90-7E51-BFAA5348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:notes">
            <a:extLst>
              <a:ext uri="{FF2B5EF4-FFF2-40B4-BE49-F238E27FC236}">
                <a16:creationId xmlns:a16="http://schemas.microsoft.com/office/drawing/2014/main" id="{D45A1ACC-D219-8A8F-528D-A407ED8EE4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5:notes">
            <a:extLst>
              <a:ext uri="{FF2B5EF4-FFF2-40B4-BE49-F238E27FC236}">
                <a16:creationId xmlns:a16="http://schemas.microsoft.com/office/drawing/2014/main" id="{A2583E5F-508E-797E-A2FC-651B39A36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28319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3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164592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2C39A"/>
                </a:solidFill>
              </a:rPr>
              <a:t>MACHINE LEARNING  ·  FINAL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6583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Cross-Sectional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Equity Return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6EAF8"/>
                </a:solidFill>
              </a:rPr>
              <a:t>An end-to-end quantitative alpha research pipeline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6EAF8"/>
                </a:solidFill>
              </a:rPr>
              <a:t>Ali Dib  ·  Chris Wehbe  ·  Anthony Charbel  ·  Kevin Khoury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920240" cy="50292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0.041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IC Mean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4434840"/>
            <a:ext cx="1920240" cy="50292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606040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0.98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Sharpe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4434840"/>
            <a:ext cx="1920240" cy="50292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S&amp;P 100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Universe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4434840"/>
            <a:ext cx="1920240" cy="50292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3720" y="446227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2024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6908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Test Horizon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we will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3504" y="14721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3504" y="1472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 &amp;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Why equity return prediction is hard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93192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 &amp; Feature Engineering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S&amp;P 100, yfinance, 14 cross-sectional factors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648456"/>
            <a:ext cx="393192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648456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3504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 Framework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3504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IC, ICIR, Sharpe — backed by research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393192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1417320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147218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01184" y="1472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Models &amp; 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01184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8 model families, temporal validation, tuning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532888"/>
            <a:ext cx="393192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532888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01184" y="25877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01184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Ensemble &amp; Benchmarking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01184" y="3035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IC-weighted combination, SPY, naive baseline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393192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3648456"/>
            <a:ext cx="64008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3703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01184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 &amp; Limitations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01184" y="4151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EAF8"/>
                </a:solidFill>
              </a:rPr>
              <a:t>Honest out-of-sample assessment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2286000" cy="28575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90000"/>
                  </a:srgbClr>
                </a:solidFill>
              </a:rPr>
              <a:t>01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Problem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Motivation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Why predicting cross-sectional equity returns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is one of the hardest problems in applied ML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960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01 · PROBLEM &amp; MOTIVATION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What We Are Solving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Cross-sectional alpha prediction — not market direction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143000"/>
            <a:ext cx="64008" cy="3611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261872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The Prediction Task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60020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</a:rPr>
              <a:t>For each stock </a:t>
            </a:r>
            <a:r>
              <a:rPr lang="en-US" sz="1100" i="1" dirty="0">
                <a:solidFill>
                  <a:srgbClr val="1C2833"/>
                </a:solidFill>
              </a:rPr>
              <a:t>i</a:t>
            </a:r>
            <a:r>
              <a:rPr lang="en-US" sz="1100" dirty="0">
                <a:solidFill>
                  <a:srgbClr val="1C2833"/>
                </a:solidFill>
              </a:rPr>
              <a:t> at time </a:t>
            </a:r>
            <a:r>
              <a:rPr lang="en-US" sz="1100" i="1" dirty="0">
                <a:solidFill>
                  <a:srgbClr val="1C2833"/>
                </a:solidFill>
              </a:rPr>
              <a:t>t</a:t>
            </a:r>
            <a:r>
              <a:rPr lang="en-US" sz="1100" dirty="0">
                <a:solidFill>
                  <a:srgbClr val="1C2833"/>
                </a:solidFill>
              </a:rPr>
              <a:t>, predict the 5-day forward return relative to all other stocks in the universe.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2148840"/>
            <a:ext cx="3657600" cy="457200"/>
          </a:xfrm>
          <a:prstGeom prst="rect">
            <a:avLst/>
          </a:prstGeom>
          <a:solidFill>
            <a:srgbClr val="F4F6F8"/>
          </a:solidFill>
          <a:ln w="1270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217627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r̂(i,t) = f( features(i,t) )  →  rank stocks  →  long top 10, short bottom 10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66928" y="26974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This is called cross-sectional alpha prediction — the standard approach used by systematic quantitative hedge funds.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3218688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Unlike price forecasting, we do not predict absolute returns. We rank stocks against each other. A stock with a predicted return of +0.1% may be a BUY if all others have predicted returns of -0.5%.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114300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6400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123444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Weak 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1527048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R² ≈ 0.001–0.004 is normal and expected. Returns are 99% noise.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2029968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029968"/>
            <a:ext cx="64008" cy="8046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2121408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Temporal Leakage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9472" y="2414016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Random train-test split is invalid. Future data must never touch training.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916936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916936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00837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Non-stationarity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19472" y="3300984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Market regimes change. A 2015 signal may not hold in 2024.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803904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803904"/>
            <a:ext cx="64008" cy="80467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19472" y="3895344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Survivorship Bias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19472" y="4187952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yfinance only returns current S&amp;P constituents. Delisted stocks are invisible.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90000"/>
                  </a:srgbClr>
                </a:solidFill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&amp; Feature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Engineering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From raw OHLCV prices to 14 cross-sectional factors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0624" y="777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02 · DATA &amp; FEATURE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Data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S&amp;P 100 · 2015–2024 · yfinance API · 242,000 rows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56232" y="1874520"/>
            <a:ext cx="274320" cy="5486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57400" y="17190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D7E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" y="1280160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280160"/>
            <a:ext cx="150876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0624" y="13350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86384" y="1380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Download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011680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yfinance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OHLCV daily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~100 tickers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2015–2024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75304" y="1874520"/>
            <a:ext cx="274320" cy="5486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776472" y="17190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D7E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66544" y="1280160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066544" y="1280160"/>
            <a:ext cx="150876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139696" y="13350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05456" y="1380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57984" y="2011680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Sort by ticker+date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Remove dupes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Handle missing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Validate prices &gt; 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94376" y="1874520"/>
            <a:ext cx="274320" cy="5486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95544" y="17190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D7E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85616" y="1280160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785616" y="1280160"/>
            <a:ext cx="150876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58768" y="13350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224528" y="1380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77056" y="2011680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14 factors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Rolling windows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Cross-sec z-score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per date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13448" y="1874520"/>
            <a:ext cx="274320" cy="5486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14616" y="1719072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D6D7E"/>
                </a:solidFill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504688" y="1280160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04688" y="1280160"/>
            <a:ext cx="1508760" cy="6583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577840" y="13350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943600" y="1380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96128" y="2011680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target_1d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target_5d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shift(-1), shift(-5)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no leakage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23760" y="1280160"/>
            <a:ext cx="1508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23760" y="1280160"/>
            <a:ext cx="150876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96912" y="133502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662672" y="13807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Split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0" y="2011680"/>
            <a:ext cx="13258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Train 80%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Val 10%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Test 10%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chronological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47472" y="4709160"/>
            <a:ext cx="1508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47472" y="47183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194,040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60704" y="471830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Training rows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066544" y="4709160"/>
            <a:ext cx="1508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066544" y="47183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48,510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779776" y="471830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Validation rows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785616" y="4709160"/>
            <a:ext cx="1508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785616" y="47183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48,510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498848" y="471830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Test rows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04688" y="4709160"/>
            <a:ext cx="1508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504688" y="47183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14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17920" y="471830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Features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23760" y="4709160"/>
            <a:ext cx="1508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223760" y="4718304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</a:rPr>
              <a:t>2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936992" y="4718304"/>
            <a:ext cx="795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Targets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90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02 · DATA &amp; FEATURE ENGINEERING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14 Cross-Sectional Features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All z-scored per date across the stock universe before modeling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413308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4048" y="1115568"/>
            <a:ext cx="4133088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179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Momentum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15727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1-Day Return  ·  5-Day Return  ·  20-Day Return  ·  60-Day Return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" y="1975104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Multi-horizon price momentum. Captures short-, medium-, and long-term trend persistence.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3054096"/>
            <a:ext cx="413308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3054096"/>
            <a:ext cx="413308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1208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Risk &amp; Volatility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" y="351129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20-Day Volatility  ·  Volatility Regime  ·  Risk-Adjusted Return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" y="3913632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Realized volatility and Sharpe-style signal. Rewards momentum only when risk is low.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115568"/>
            <a:ext cx="413308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413308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1179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Liquidity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1572768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20-Day Avg Volume  ·  Volume Surprise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64608" y="1975104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Volume surprise = current vol / 20-day avg. Flags unusual activity ahead of moves.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54096"/>
            <a:ext cx="4133088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3054096"/>
            <a:ext cx="4133088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Engineered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3511296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Momentum Ratio 1 &amp; 2  ·  Trend Consistency  ·  Rank: 20-Day Return  ·  Interaction Features 1 &amp; 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4608" y="3913632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Cross-feature interactions and rank-based signals to capture nonlinear combinations.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" y="4736592"/>
            <a:ext cx="8375904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47457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⚑  Critical: all features are z-scored across stocks per date — this normalizes relative differences and removes market-wide level effects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90000"/>
                  </a:srgbClr>
                </a:solidFill>
              </a:rPr>
              <a:t>03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Evaluation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Framework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Why R² is the wrong metric — and what we use instead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48056" y="381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03 · EVALUATION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Metrics: IC, ICIR &amp; Portfolio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Research-backed evaluation beyond R²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83759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115568"/>
            <a:ext cx="64008" cy="11704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Information Coefficient (IC)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20440" y="1161288"/>
            <a:ext cx="237744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11795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IC(t) = Spearman( r̂(t), r(t) 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1161288"/>
            <a:ext cx="2743200" cy="320040"/>
          </a:xfrm>
          <a:prstGeom prst="rect">
            <a:avLst/>
          </a:prstGeom>
          <a:solidFill>
            <a:srgbClr val="1E2761">
              <a:alpha val="2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35040" y="11795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</a:rPr>
              <a:t>IC = 0.041 (val) · 0.024 (test)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1554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Rank correlation between predicted and realised returns per period. The primary signal quality metric in cross-sectional equity research.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2833"/>
                </a:solidFill>
              </a:rPr>
              <a:t>📌 IC &gt; 0.02 is considered a viable signal (Grinold &amp; Kahn, 1999). IC &gt; 0.05 is strong.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" y="2377440"/>
            <a:ext cx="83759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" y="2377440"/>
            <a:ext cx="64008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4505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IC Information Ratio (ICIR)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20440" y="2423160"/>
            <a:ext cx="237744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2441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ICIR = Mean(IC) / Std(IC)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989320" y="2423160"/>
            <a:ext cx="2743200" cy="32004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35040" y="24414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</a:rPr>
              <a:t>ICIR = 0.322 (val) · 0.117 (test)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28163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Signal consistency over time. A high ICIR means the signal works reliably, not just on average.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2833"/>
                </a:solidFill>
              </a:rPr>
              <a:t>📌 ICIR &gt; 0.5 indicates a tradeable signal. Professional funds target 0.5–2.0 (Grinold, 1994).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84048" y="3639312"/>
            <a:ext cx="83759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3639312"/>
            <a:ext cx="64008" cy="1170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7124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Sharpe Ratio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520440" y="3685032"/>
            <a:ext cx="2377440" cy="320040"/>
          </a:xfrm>
          <a:prstGeom prst="rect">
            <a:avLst/>
          </a:prstGeom>
          <a:solidFill>
            <a:srgbClr val="F4F6F8"/>
          </a:solidFill>
          <a:ln w="1270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6616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Sharpe = Mean(r_net) / Std(r_net) × √52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89320" y="3685032"/>
            <a:ext cx="2743200" cy="320040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03504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833"/>
                </a:solidFill>
              </a:rPr>
              <a:t>Sharpe = 1.97 (val) · 0.98 (test)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407822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Risk-adjusted return of the long-short portfolio net of 10 bps transaction costs per period.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4078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2833"/>
                </a:solidFill>
              </a:rPr>
              <a:t>📌 Sharpe &gt; 1.0 on market-neutral strategy is competitive with top institutional funds.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4048" y="4828032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D6D7E"/>
                </a:solidFill>
              </a:rPr>
              <a:t>Additional metrics: Cumulative Return · Max Drawdown · IC % positive periods · IC stability (year-on-year)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90000"/>
                  </a:srgbClr>
                </a:solidFill>
              </a:rPr>
              <a:t>04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Models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Results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8 model families · temporal validation · hyperparameter tuning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6052" y="45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Temporal Validation — No Leakage by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Random splits are invalid for financial time series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371600"/>
            <a:ext cx="6664147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1417320"/>
            <a:ext cx="6554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2057400"/>
            <a:ext cx="65544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2015-03-31 → 2023-01-10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194,040 rows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084771" y="1371600"/>
            <a:ext cx="80101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9635" y="1417320"/>
            <a:ext cx="691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9635" y="2057400"/>
            <a:ext cx="691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2023-01-11 → 2023-12-31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~48,510 rows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22362" y="1371600"/>
            <a:ext cx="801014" cy="5943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77226" y="1417320"/>
            <a:ext cx="6912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77226" y="2057400"/>
            <a:ext cx="6912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2024-01-01 → 2024-12-20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</a:rPr>
              <a:t>~48,510 rows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2788920"/>
            <a:ext cx="41330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" y="2788920"/>
            <a:ext cx="64008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TimeSeriesSplit Tuning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Hyperparameters tuned using 5-fold TimeSeriesSplit on training data only. Never KFold — that would shuffle time.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3886200"/>
            <a:ext cx="41330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84048" y="388620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No Look-Ahead on 5d 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270248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target_5d uses shift(-5) applied after sorting by ticker+date. Every-5th-date sampling avoids overlapping return windows.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41330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64008" cy="9601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9472" y="288036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Drop-Duplicates Guard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19472" y="3172968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scored_val.drop_duplicates(['date','ticker']) applied before every evaluation to prevent double-counting period returns.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886200"/>
            <a:ext cx="4133088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886200"/>
            <a:ext cx="64008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3977640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StandardScaler in Pipeline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19472" y="4270248"/>
            <a:ext cx="38770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Scaler fitted on training data only, applied to validation/test. Prevents validation statistics from leaking into feature scaling.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347472" y="843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</a:p>
        </p:txBody>
      </p:sp>
      <p:sp>
        <p:nvSpPr>
          <p:cNvPr id="4" name="Title"/>
          <p:cNvSpPr/>
          <p:nvPr/>
        </p:nvSpPr>
        <p:spPr>
          <a:xfrm>
            <a:off x="423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Linear Models — What &amp; How</a:t>
            </a:r>
          </a:p>
        </p:txBody>
      </p:sp>
      <p:sp>
        <p:nvSpPr>
          <p:cNvPr id="5" name="Subtitle"/>
          <p:cNvSpPr/>
          <p:nvPr/>
        </p:nvSpPr>
        <p:spPr>
          <a:xfrm>
            <a:off x="423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Ridge, Lasso, and ElasticNet — shared architecture, different regularization penalties</a:t>
            </a:r>
          </a:p>
        </p:txBody>
      </p:sp>
      <p:sp>
        <p:nvSpPr>
          <p:cNvPr id="6" name="TitleUnderline"/>
          <p:cNvSpPr/>
          <p:nvPr/>
        </p:nvSpPr>
        <p:spPr>
          <a:xfrm>
            <a:off x="45704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ageNum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12</a:t>
            </a:r>
          </a:p>
        </p:txBody>
      </p:sp>
      <p:sp>
        <p:nvSpPr>
          <p:cNvPr id="20" name="RidgeCard"/>
          <p:cNvSpPr/>
          <p:nvPr/>
        </p:nvSpPr>
        <p:spPr>
          <a:xfrm>
            <a:off x="457200" y="1100000"/>
            <a:ext cx="2630000" cy="36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idgeBand"/>
          <p:cNvSpPr/>
          <p:nvPr/>
        </p:nvSpPr>
        <p:spPr>
          <a:xfrm>
            <a:off x="457200" y="1100000"/>
            <a:ext cx="2630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idgeTitle"/>
          <p:cNvSpPr/>
          <p:nvPr/>
        </p:nvSpPr>
        <p:spPr>
          <a:xfrm>
            <a:off x="502920" y="1118880"/>
            <a:ext cx="2538560" cy="1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Ridge Regression</a:t>
            </a:r>
          </a:p>
        </p:txBody>
      </p:sp>
      <p:sp>
        <p:nvSpPr>
          <p:cNvPr id="23" name="RidgeBody"/>
          <p:cNvSpPr/>
          <p:nvPr/>
        </p:nvSpPr>
        <p:spPr>
          <a:xfrm>
            <a:off x="502920" y="1310000"/>
            <a:ext cx="2538560" cy="336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Penalty: L2 (squared weights)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Shrinks all coefficients toward zero without zeroing any. Stable when features are correlated — ideal for our 14 z-scored factors.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Implementation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sklearn Ridge in a Pipeline with StandardScaler. Scaler fit on train only — no leakage. alpha tuned via 5-fold TimeSeriesSplit.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Best alpha: 10.0</a:t>
            </a:r>
          </a:p>
        </p:txBody>
      </p:sp>
      <p:sp>
        <p:nvSpPr>
          <p:cNvPr id="30" name="LassoCard"/>
          <p:cNvSpPr/>
          <p:nvPr/>
        </p:nvSpPr>
        <p:spPr>
          <a:xfrm>
            <a:off x="3240000" y="1100000"/>
            <a:ext cx="2630000" cy="36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LassoBand"/>
          <p:cNvSpPr/>
          <p:nvPr/>
        </p:nvSpPr>
        <p:spPr>
          <a:xfrm>
            <a:off x="3240000" y="1100000"/>
            <a:ext cx="26300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LassoTitle"/>
          <p:cNvSpPr/>
          <p:nvPr/>
        </p:nvSpPr>
        <p:spPr>
          <a:xfrm>
            <a:off x="3285720" y="1118880"/>
            <a:ext cx="2538560" cy="1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Lasso Regression</a:t>
            </a:r>
          </a:p>
        </p:txBody>
      </p:sp>
      <p:sp>
        <p:nvSpPr>
          <p:cNvPr id="33" name="LassoBody"/>
          <p:cNvSpPr/>
          <p:nvPr/>
        </p:nvSpPr>
        <p:spPr>
          <a:xfrm>
            <a:off x="3285720" y="1310000"/>
            <a:ext cx="2538560" cy="336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Penalty: L1 (absolute weights)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Drives weak feature coefficients exactly to zero — automatic feature selection. Irrelevant factors get silenced entirely.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Implementation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sklearn Lasso in Pipeline. max_iter=10000 for convergence on 194K-row panel. alpha tuned via 5-fold TimeSeriesSplit.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Best alpha: 0.0001</a:t>
            </a:r>
          </a:p>
        </p:txBody>
      </p:sp>
      <p:sp>
        <p:nvSpPr>
          <p:cNvPr id="40" name="ENCard"/>
          <p:cNvSpPr/>
          <p:nvPr/>
        </p:nvSpPr>
        <p:spPr>
          <a:xfrm>
            <a:off x="6022800" y="1100000"/>
            <a:ext cx="2630000" cy="36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ENBand"/>
          <p:cNvSpPr/>
          <p:nvPr/>
        </p:nvSpPr>
        <p:spPr>
          <a:xfrm>
            <a:off x="6022800" y="1100000"/>
            <a:ext cx="2630000" cy="1828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ENTitle"/>
          <p:cNvSpPr/>
          <p:nvPr/>
        </p:nvSpPr>
        <p:spPr>
          <a:xfrm>
            <a:off x="6068520" y="1118880"/>
            <a:ext cx="2538560" cy="1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ElasticNet</a:t>
            </a:r>
          </a:p>
        </p:txBody>
      </p:sp>
      <p:sp>
        <p:nvSpPr>
          <p:cNvPr id="43" name="ENBody"/>
          <p:cNvSpPr/>
          <p:nvPr/>
        </p:nvSpPr>
        <p:spPr>
          <a:xfrm>
            <a:off x="6068520" y="1310000"/>
            <a:ext cx="2538560" cy="336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Penalty: L1 + L2 (mixed)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Combines Lasso sparsity with Ridge stability. l1_ratio controls the L1/L2 blend — best of both when features are partially redundant.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Implementation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sklearn ElasticNet in Pipeline. Both alpha and l1_ratio grid-searched via 5-fold TimeSeriesSplit on training data only.</a:t>
            </a: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</a:rPr>
              <a:t>Best alpha: 0.0005 · l1_ratio: 0.5</a:t>
            </a:r>
          </a:p>
        </p:txBody>
      </p:sp>
      <p:sp>
        <p:nvSpPr>
          <p:cNvPr id="50" name="ArchBanner"/>
          <p:cNvSpPr/>
          <p:nvPr/>
        </p:nvSpPr>
        <p:spPr>
          <a:xfrm>
            <a:off x="347472" y="4800000"/>
            <a:ext cx="8449056" cy="25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ArchLabel"/>
          <p:cNvSpPr/>
          <p:nvPr/>
        </p:nvSpPr>
        <p:spPr>
          <a:xfrm>
            <a:off x="530000" y="4812000"/>
            <a:ext cx="1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Shared Architecture:</a:t>
            </a:r>
          </a:p>
        </p:txBody>
      </p:sp>
      <p:sp>
        <p:nvSpPr>
          <p:cNvPr id="52" name="ArchText"/>
          <p:cNvSpPr/>
          <p:nvPr/>
        </p:nvSpPr>
        <p:spPr>
          <a:xfrm>
            <a:off x="2100000" y="4812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All three use train_regularized_regression() · StandardScaler in-pipeline · train-only scaling · temporal split · no shuffle · chronological ordering preserved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ectionLabel"/>
          <p:cNvSpPr/>
          <p:nvPr/>
        </p:nvSpPr>
        <p:spPr>
          <a:xfrm>
            <a:off x="347472" y="947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</a:p>
        </p:txBody>
      </p:sp>
      <p:sp>
        <p:nvSpPr>
          <p:cNvPr id="4" name="Title"/>
          <p:cNvSpPr/>
          <p:nvPr/>
        </p:nvSpPr>
        <p:spPr>
          <a:xfrm>
            <a:off x="457200" y="25167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Validation Results &amp; Hyperparameter Tuning</a:t>
            </a:r>
          </a:p>
        </p:txBody>
      </p:sp>
      <p:sp>
        <p:nvSpPr>
          <p:cNvPr id="5" name="Subtitle"/>
          <p:cNvSpPr/>
          <p:nvPr/>
        </p:nvSpPr>
        <p:spPr>
          <a:xfrm>
            <a:off x="457200" y="7647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alpha grid-searched on train via 5-fold TimeSeriesSplit · target_5d validation · 2023-01-11 to 2024-12-20</a:t>
            </a:r>
          </a:p>
        </p:txBody>
      </p:sp>
      <p:sp>
        <p:nvSpPr>
          <p:cNvPr id="6" name="TitleUnderline"/>
          <p:cNvSpPr/>
          <p:nvPr/>
        </p:nvSpPr>
        <p:spPr>
          <a:xfrm>
            <a:off x="484632" y="736684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ageNum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13</a:t>
            </a:r>
          </a:p>
        </p:txBody>
      </p:sp>
      <p:sp>
        <p:nvSpPr>
          <p:cNvPr id="60" name="LeftPanel"/>
          <p:cNvSpPr/>
          <p:nvPr/>
        </p:nvSpPr>
        <p:spPr>
          <a:xfrm>
            <a:off x="457200" y="1080000"/>
            <a:ext cx="3600000" cy="36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LeftHeader"/>
          <p:cNvSpPr/>
          <p:nvPr/>
        </p:nvSpPr>
        <p:spPr>
          <a:xfrm>
            <a:off x="457200" y="1080000"/>
            <a:ext cx="360000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LeftHeaderText"/>
          <p:cNvSpPr/>
          <p:nvPr/>
        </p:nvSpPr>
        <p:spPr>
          <a:xfrm>
            <a:off x="502920" y="1098880"/>
            <a:ext cx="3508560" cy="1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Metrics — target_5d Validation</a:t>
            </a:r>
          </a:p>
        </p:txBody>
      </p:sp>
      <p:sp>
        <p:nvSpPr>
          <p:cNvPr id="70" name="Stat1Bg"/>
          <p:cNvSpPr/>
          <p:nvPr/>
        </p:nvSpPr>
        <p:spPr>
          <a:xfrm>
            <a:off x="502920" y="1310000"/>
            <a:ext cx="1640000" cy="650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tat1Num"/>
          <p:cNvSpPr/>
          <p:nvPr/>
        </p:nvSpPr>
        <p:spPr>
          <a:xfrm>
            <a:off x="502920" y="1330000"/>
            <a:ext cx="164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0.045</a:t>
            </a:r>
          </a:p>
        </p:txBody>
      </p:sp>
      <p:sp>
        <p:nvSpPr>
          <p:cNvPr id="72" name="Stat1Lbl"/>
          <p:cNvSpPr/>
          <p:nvPr/>
        </p:nvSpPr>
        <p:spPr>
          <a:xfrm>
            <a:off x="502920" y="1700000"/>
            <a:ext cx="164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IC Mean (ElasticNet)</a:t>
            </a:r>
          </a:p>
        </p:txBody>
      </p:sp>
      <p:sp>
        <p:nvSpPr>
          <p:cNvPr id="73" name="Stat2Bg"/>
          <p:cNvSpPr/>
          <p:nvPr/>
        </p:nvSpPr>
        <p:spPr>
          <a:xfrm>
            <a:off x="2370000" y="1310000"/>
            <a:ext cx="1640000" cy="65000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tat2Num"/>
          <p:cNvSpPr/>
          <p:nvPr/>
        </p:nvSpPr>
        <p:spPr>
          <a:xfrm>
            <a:off x="2370000" y="1330000"/>
            <a:ext cx="164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</a:rPr>
              <a:t>1.58</a:t>
            </a:r>
          </a:p>
        </p:txBody>
      </p:sp>
      <p:sp>
        <p:nvSpPr>
          <p:cNvPr id="75" name="Stat2Lbl"/>
          <p:cNvSpPr/>
          <p:nvPr/>
        </p:nvSpPr>
        <p:spPr>
          <a:xfrm>
            <a:off x="2370000" y="1700000"/>
            <a:ext cx="164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Best Sharpe (Lasso)</a:t>
            </a:r>
          </a:p>
        </p:txBody>
      </p:sp>
      <p:sp>
        <p:nvSpPr>
          <p:cNvPr id="76" name="Stat3Bg"/>
          <p:cNvSpPr/>
          <p:nvPr/>
        </p:nvSpPr>
        <p:spPr>
          <a:xfrm>
            <a:off x="502920" y="2050000"/>
            <a:ext cx="1640000" cy="6500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tat3Num"/>
          <p:cNvSpPr/>
          <p:nvPr/>
        </p:nvSpPr>
        <p:spPr>
          <a:xfrm>
            <a:off x="502920" y="2070000"/>
            <a:ext cx="164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</a:rPr>
              <a:t>+82%</a:t>
            </a:r>
          </a:p>
        </p:txBody>
      </p:sp>
      <p:sp>
        <p:nvSpPr>
          <p:cNvPr id="78" name="Stat3Lbl"/>
          <p:cNvSpPr/>
          <p:nvPr/>
        </p:nvSpPr>
        <p:spPr>
          <a:xfrm>
            <a:off x="502920" y="2440000"/>
            <a:ext cx="164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Cum. Return (Lasso)</a:t>
            </a:r>
          </a:p>
        </p:txBody>
      </p:sp>
      <p:sp>
        <p:nvSpPr>
          <p:cNvPr id="79" name="Stat4Bg"/>
          <p:cNvSpPr/>
          <p:nvPr/>
        </p:nvSpPr>
        <p:spPr>
          <a:xfrm>
            <a:off x="2370000" y="2050000"/>
            <a:ext cx="1640000" cy="650000"/>
          </a:xfrm>
          <a:prstGeom prst="rect">
            <a:avLst/>
          </a:prstGeom>
          <a:solidFill>
            <a:srgbClr val="E8F8F5"/>
          </a:solidFill>
          <a:ln w="12700">
            <a:solidFill>
              <a:srgbClr val="A9D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tat4Num"/>
          <p:cNvSpPr/>
          <p:nvPr/>
        </p:nvSpPr>
        <p:spPr>
          <a:xfrm>
            <a:off x="2370000" y="2070000"/>
            <a:ext cx="164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8090"/>
                </a:solidFill>
              </a:rPr>
              <a:t>0.223</a:t>
            </a:r>
          </a:p>
        </p:txBody>
      </p:sp>
      <p:sp>
        <p:nvSpPr>
          <p:cNvPr id="81" name="Stat4Lbl"/>
          <p:cNvSpPr/>
          <p:nvPr/>
        </p:nvSpPr>
        <p:spPr>
          <a:xfrm>
            <a:off x="2370000" y="2440000"/>
            <a:ext cx="164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ICIR (ElasticNet)</a:t>
            </a:r>
          </a:p>
        </p:txBody>
      </p:sp>
      <p:sp>
        <p:nvSpPr>
          <p:cNvPr id="85" name="LinearNote"/>
          <p:cNvSpPr/>
          <p:nvPr/>
        </p:nvSpPr>
        <p:spPr>
          <a:xfrm>
            <a:off x="502920" y="2800000"/>
            <a:ext cx="3508560" cy="820000"/>
          </a:xfrm>
          <a:prstGeom prst="rect">
            <a:avLst/>
          </a:prstGeom>
          <a:solidFill>
            <a:srgbClr val="F2F3F4"/>
          </a:solidFill>
          <a:ln w="127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LinearNoteText"/>
          <p:cNvSpPr/>
          <p:nvPr/>
        </p:nvSpPr>
        <p:spPr>
          <a:xfrm>
            <a:off x="548640" y="2828000"/>
            <a:ext cx="3416640" cy="7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D3C98"/>
                </a:solidFill>
              </a:rPr>
              <a:t>Note — Plain Linear Regression: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</a:rPr>
              <a:t>Included as a baseline (train_linear.py) but no validation metrics were collected. With no regularization it overfits the noisy 194K-row panel — the regularized models supersede it in all evaluations.</a:t>
            </a:r>
          </a:p>
        </p:txBody>
      </p:sp>
      <p:sp>
        <p:nvSpPr>
          <p:cNvPr id="90" name="RightPanel"/>
          <p:cNvSpPr/>
          <p:nvPr/>
        </p:nvSpPr>
        <p:spPr>
          <a:xfrm>
            <a:off x="4320000" y="1080000"/>
            <a:ext cx="4367200" cy="364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RightHeader"/>
          <p:cNvSpPr/>
          <p:nvPr/>
        </p:nvSpPr>
        <p:spPr>
          <a:xfrm>
            <a:off x="4320000" y="1080000"/>
            <a:ext cx="4367200" cy="182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ightHeaderText"/>
          <p:cNvSpPr/>
          <p:nvPr/>
        </p:nvSpPr>
        <p:spPr>
          <a:xfrm>
            <a:off x="4365720" y="1098880"/>
            <a:ext cx="4275760" cy="145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Hyperparameter Tuning — target_5d</a:t>
            </a:r>
          </a:p>
        </p:txBody>
      </p:sp>
      <p:sp>
        <p:nvSpPr>
          <p:cNvPr id="93" name="TuningBody"/>
          <p:cNvSpPr/>
          <p:nvPr/>
        </p:nvSpPr>
        <p:spPr>
          <a:xfrm>
            <a:off x="4365720" y="1300000"/>
            <a:ext cx="4275760" cy="33600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Method: 5-fold TimeSeriesSplit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</a:rPr>
              <a:t>Applied to training data only (2015-2023). No random shuffle — folds respect chronological order to simulate real deployment.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Ridge</a:t>
            </a:r>
            <a:r>
              <a:rPr lang="en-US" sz="1000" dirty="0">
                <a:solidFill>
                  <a:srgbClr val="1C2833"/>
                </a:solidFill>
              </a:rPr>
              <a:t>  alpha = {0.01, 0.1, 1.0, 10.0, 100.0}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</a:rPr>
              <a:t>Best: alpha=10.0 · IC=0.042 · Sharpe=1.22 · CumRet=+58%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</a:rPr>
              <a:t>Lasso</a:t>
            </a:r>
            <a:r>
              <a:rPr lang="en-US" sz="1000" dirty="0">
                <a:solidFill>
                  <a:srgbClr val="1C2833"/>
                </a:solidFill>
              </a:rPr>
              <a:t>  alpha = {0.0001, 0.001, 0.01, 0.1, 1.0}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</a:rPr>
              <a:t>Best: alpha=0.0001 · IC=0.042 · Sharpe=1.58 · CumRet=+82%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</a:rPr>
              <a:t>ElasticNet</a:t>
            </a:r>
            <a:r>
              <a:rPr lang="en-US" sz="1000" dirty="0">
                <a:solidFill>
                  <a:srgbClr val="1C2833"/>
                </a:solidFill>
              </a:rPr>
              <a:t>  alpha = {0.0001..1.0} · l1_ratio = {0.1..0.9}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</a:rPr>
              <a:t>Best: alpha=0.0005, l1_ratio=0.5 · IC=0.045 · Sharpe=1.43 · CumRet=+80%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Scoring metric:</a:t>
            </a:r>
            <a:r>
              <a:rPr lang="en-US" sz="900" dirty="0">
                <a:solidFill>
                  <a:srgbClr val="1C2833"/>
                </a:solidFill>
              </a:rPr>
              <a:t>  IC (Spearman rank correlation) — not R². R² is misleading when signal is weak and returns are near-pure noise.</a:t>
            </a:r>
          </a:p>
        </p:txBody>
      </p:sp>
      <p:sp>
        <p:nvSpPr>
          <p:cNvPr id="100" name="FindingBanner"/>
          <p:cNvSpPr/>
          <p:nvPr/>
        </p:nvSpPr>
        <p:spPr>
          <a:xfrm>
            <a:off x="347472" y="4770000"/>
            <a:ext cx="8449056" cy="280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FindingLabel"/>
          <p:cNvSpPr/>
          <p:nvPr/>
        </p:nvSpPr>
        <p:spPr>
          <a:xfrm>
            <a:off x="530000" y="4782000"/>
            <a:ext cx="1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</a:rPr>
              <a:t>Key Finding:</a:t>
            </a:r>
          </a:p>
        </p:txBody>
      </p:sp>
      <p:sp>
        <p:nvSpPr>
          <p:cNvPr id="102" name="FindingText"/>
          <p:cNvSpPr/>
          <p:nvPr/>
        </p:nvSpPr>
        <p:spPr>
          <a:xfrm>
            <a:off x="2100000" y="4782000"/>
            <a:ext cx="65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</a:rPr>
              <a:t>All three models converge on similar IC (~0.042-0.045). Lasso wins on Sharpe (1.58) and Cumulative Return (+82%) — sparsity helps on a clean 14-feature set. ElasticNet selected for ensemble (highest IC).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A28228-0FB5-93E7-2F75-E1D40DE5B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031" y="658288"/>
            <a:ext cx="4447237" cy="1489181"/>
          </a:xfrm>
          <a:prstGeom prst="rect">
            <a:avLst/>
          </a:prstGeom>
        </p:spPr>
      </p:pic>
      <p:sp>
        <p:nvSpPr>
          <p:cNvPr id="4" name="AccentBar">
            <a:extLst>
              <a:ext uri="{FF2B5EF4-FFF2-40B4-BE49-F238E27FC236}">
                <a16:creationId xmlns:a16="http://schemas.microsoft.com/office/drawing/2014/main" id="{2AA31BE3-475A-0B9D-C583-4263AA3BDAB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CD157-4214-F5E8-8DF2-71DEA951CCCD}"/>
              </a:ext>
            </a:extLst>
          </p:cNvPr>
          <p:cNvSpPr txBox="1"/>
          <p:nvPr/>
        </p:nvSpPr>
        <p:spPr>
          <a:xfrm>
            <a:off x="448194" y="265315"/>
            <a:ext cx="396447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C0B6FE-69D8-95EA-CCA1-197715A6C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273" y="658288"/>
            <a:ext cx="4265076" cy="419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38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02D850BB-1234-5821-EC90-3D7405015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>
            <a:extLst>
              <a:ext uri="{FF2B5EF4-FFF2-40B4-BE49-F238E27FC236}">
                <a16:creationId xmlns:a16="http://schemas.microsoft.com/office/drawing/2014/main" id="{2CE7E4B7-D28A-5060-B6B9-ECD1A02FE0D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1235869"/>
            <a:ext cx="4000500" cy="355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>
            <a:extLst>
              <a:ext uri="{FF2B5EF4-FFF2-40B4-BE49-F238E27FC236}">
                <a16:creationId xmlns:a16="http://schemas.microsoft.com/office/drawing/2014/main" id="{AE3C6D2F-AEBE-76F0-C948-9171D978EA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1235869"/>
            <a:ext cx="4000500" cy="35504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8D7B96AB-083E-8F9C-48EE-8D6D582C9A6F}"/>
              </a:ext>
            </a:extLst>
          </p:cNvPr>
          <p:cNvSpPr txBox="1"/>
          <p:nvPr/>
        </p:nvSpPr>
        <p:spPr>
          <a:xfrm>
            <a:off x="68580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Model Architecture</a:t>
            </a:r>
            <a:endParaRPr sz="1350" dirty="0"/>
          </a:p>
        </p:txBody>
      </p:sp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3F1898C9-F424-994E-7FF8-082C42CDA334}"/>
              </a:ext>
            </a:extLst>
          </p:cNvPr>
          <p:cNvSpPr txBox="1"/>
          <p:nvPr/>
        </p:nvSpPr>
        <p:spPr>
          <a:xfrm>
            <a:off x="685800" y="3078957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 dirty="0">
                <a:solidFill>
                  <a:srgbClr val="64748B"/>
                </a:solidFill>
                <a:ea typeface="Inter"/>
                <a:cs typeface="Inter"/>
                <a:sym typeface="Inter"/>
              </a:rPr>
              <a:t>HYPERPARAMETERS</a:t>
            </a:r>
            <a:endParaRPr sz="1350" dirty="0"/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AF5B0B99-E4CB-C53A-ADFE-C0172EBDE33E}"/>
              </a:ext>
            </a:extLst>
          </p:cNvPr>
          <p:cNvSpPr/>
          <p:nvPr/>
        </p:nvSpPr>
        <p:spPr>
          <a:xfrm>
            <a:off x="685800" y="3250407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>
            <a:extLst>
              <a:ext uri="{FF2B5EF4-FFF2-40B4-BE49-F238E27FC236}">
                <a16:creationId xmlns:a16="http://schemas.microsoft.com/office/drawing/2014/main" id="{CDEBD185-87BF-21B3-7FA7-1A07910299E6}"/>
              </a:ext>
            </a:extLst>
          </p:cNvPr>
          <p:cNvSpPr txBox="1"/>
          <p:nvPr/>
        </p:nvSpPr>
        <p:spPr>
          <a:xfrm>
            <a:off x="497205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Performance &amp; Verdict</a:t>
            </a:r>
            <a:endParaRPr sz="1350" dirty="0"/>
          </a:p>
        </p:txBody>
      </p:sp>
      <p:sp>
        <p:nvSpPr>
          <p:cNvPr id="130" name="Google Shape;130;p15">
            <a:extLst>
              <a:ext uri="{FF2B5EF4-FFF2-40B4-BE49-F238E27FC236}">
                <a16:creationId xmlns:a16="http://schemas.microsoft.com/office/drawing/2014/main" id="{3AB1F665-B6D2-13A4-95A8-471B61D732FE}"/>
              </a:ext>
            </a:extLst>
          </p:cNvPr>
          <p:cNvSpPr/>
          <p:nvPr/>
        </p:nvSpPr>
        <p:spPr>
          <a:xfrm>
            <a:off x="4972050" y="2986088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398D90E3-ED9D-A17C-2C62-449F543C95BC}"/>
              </a:ext>
            </a:extLst>
          </p:cNvPr>
          <p:cNvSpPr txBox="1"/>
          <p:nvPr/>
        </p:nvSpPr>
        <p:spPr>
          <a:xfrm>
            <a:off x="828675" y="1885950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Non-linear model (RBF kernel)</a:t>
            </a:r>
            <a:endParaRPr sz="1350" dirty="0"/>
          </a:p>
        </p:txBody>
      </p:sp>
      <p:sp>
        <p:nvSpPr>
          <p:cNvPr id="132" name="Google Shape;132;p15">
            <a:extLst>
              <a:ext uri="{FF2B5EF4-FFF2-40B4-BE49-F238E27FC236}">
                <a16:creationId xmlns:a16="http://schemas.microsoft.com/office/drawing/2014/main" id="{0E730D3C-CB30-62D4-07F8-32304561586E}"/>
              </a:ext>
            </a:extLst>
          </p:cNvPr>
          <p:cNvSpPr txBox="1"/>
          <p:nvPr/>
        </p:nvSpPr>
        <p:spPr>
          <a:xfrm>
            <a:off x="828675" y="2139553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Uses kernel to capture complex patterns</a:t>
            </a:r>
            <a:endParaRPr sz="1350" dirty="0"/>
          </a:p>
        </p:txBody>
      </p:sp>
      <p:sp>
        <p:nvSpPr>
          <p:cNvPr id="133" name="Google Shape;133;p15">
            <a:extLst>
              <a:ext uri="{FF2B5EF4-FFF2-40B4-BE49-F238E27FC236}">
                <a16:creationId xmlns:a16="http://schemas.microsoft.com/office/drawing/2014/main" id="{6985E475-43F8-C402-41C2-1B996F2009B9}"/>
              </a:ext>
            </a:extLst>
          </p:cNvPr>
          <p:cNvSpPr txBox="1"/>
          <p:nvPr/>
        </p:nvSpPr>
        <p:spPr>
          <a:xfrm>
            <a:off x="828675" y="2393156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Pipeline: </a:t>
            </a:r>
            <a:r>
              <a:rPr lang="en-US" sz="956" dirty="0" err="1">
                <a:solidFill>
                  <a:srgbClr val="334155"/>
                </a:solidFill>
                <a:ea typeface="Inter"/>
                <a:cs typeface="Inter"/>
                <a:sym typeface="Inter"/>
              </a:rPr>
              <a:t>StandardScaler</a:t>
            </a: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-&gt;SVR</a:t>
            </a:r>
            <a:endParaRPr sz="1350" dirty="0"/>
          </a:p>
        </p:txBody>
      </p:sp>
      <p:sp>
        <p:nvSpPr>
          <p:cNvPr id="134" name="Google Shape;134;p15">
            <a:extLst>
              <a:ext uri="{FF2B5EF4-FFF2-40B4-BE49-F238E27FC236}">
                <a16:creationId xmlns:a16="http://schemas.microsoft.com/office/drawing/2014/main" id="{19328018-9A87-15DF-D509-0E69CA00E691}"/>
              </a:ext>
            </a:extLst>
          </p:cNvPr>
          <p:cNvSpPr txBox="1"/>
          <p:nvPr/>
        </p:nvSpPr>
        <p:spPr>
          <a:xfrm>
            <a:off x="828675" y="264675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Implemented utilizing the Scikit-learn library.</a:t>
            </a:r>
            <a:endParaRPr sz="1350" dirty="0"/>
          </a:p>
        </p:txBody>
      </p:sp>
      <p:sp>
        <p:nvSpPr>
          <p:cNvPr id="135" name="Google Shape;135;p15">
            <a:extLst>
              <a:ext uri="{FF2B5EF4-FFF2-40B4-BE49-F238E27FC236}">
                <a16:creationId xmlns:a16="http://schemas.microsoft.com/office/drawing/2014/main" id="{4E1E8732-7B35-BED0-03F3-A71629AC24EB}"/>
              </a:ext>
            </a:extLst>
          </p:cNvPr>
          <p:cNvSpPr txBox="1"/>
          <p:nvPr/>
        </p:nvSpPr>
        <p:spPr>
          <a:xfrm>
            <a:off x="682943" y="3328987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C=1.0</a:t>
            </a:r>
            <a:endParaRPr sz="1350" dirty="0"/>
          </a:p>
        </p:txBody>
      </p:sp>
      <p:sp>
        <p:nvSpPr>
          <p:cNvPr id="136" name="Google Shape;136;p15">
            <a:extLst>
              <a:ext uri="{FF2B5EF4-FFF2-40B4-BE49-F238E27FC236}">
                <a16:creationId xmlns:a16="http://schemas.microsoft.com/office/drawing/2014/main" id="{751573DF-6F14-FA22-11F3-2C90D42E88CE}"/>
              </a:ext>
            </a:extLst>
          </p:cNvPr>
          <p:cNvSpPr txBox="1"/>
          <p:nvPr/>
        </p:nvSpPr>
        <p:spPr>
          <a:xfrm>
            <a:off x="685800" y="4007644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Epsilon=0.01</a:t>
            </a:r>
            <a:endParaRPr sz="1350" dirty="0"/>
          </a:p>
        </p:txBody>
      </p:sp>
      <p:sp>
        <p:nvSpPr>
          <p:cNvPr id="137" name="Google Shape;137;p15">
            <a:extLst>
              <a:ext uri="{FF2B5EF4-FFF2-40B4-BE49-F238E27FC236}">
                <a16:creationId xmlns:a16="http://schemas.microsoft.com/office/drawing/2014/main" id="{0C9827F1-587A-78E2-812B-97DDCCB97D12}"/>
              </a:ext>
            </a:extLst>
          </p:cNvPr>
          <p:cNvSpPr txBox="1"/>
          <p:nvPr/>
        </p:nvSpPr>
        <p:spPr>
          <a:xfrm>
            <a:off x="685800" y="3679908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Gamma=scale</a:t>
            </a:r>
            <a:endParaRPr sz="1350" dirty="0"/>
          </a:p>
        </p:txBody>
      </p:sp>
      <p:sp>
        <p:nvSpPr>
          <p:cNvPr id="139" name="Google Shape;139;p15">
            <a:extLst>
              <a:ext uri="{FF2B5EF4-FFF2-40B4-BE49-F238E27FC236}">
                <a16:creationId xmlns:a16="http://schemas.microsoft.com/office/drawing/2014/main" id="{D323B701-EC41-3A70-ADA0-2753A5CD43B7}"/>
              </a:ext>
            </a:extLst>
          </p:cNvPr>
          <p:cNvSpPr txBox="1"/>
          <p:nvPr/>
        </p:nvSpPr>
        <p:spPr>
          <a:xfrm>
            <a:off x="4972050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 Mean:</a:t>
            </a: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0.006</a:t>
            </a:r>
            <a:endParaRPr sz="1350" dirty="0"/>
          </a:p>
        </p:txBody>
      </p:sp>
      <p:sp>
        <p:nvSpPr>
          <p:cNvPr id="140" name="Google Shape;140;p15">
            <a:extLst>
              <a:ext uri="{FF2B5EF4-FFF2-40B4-BE49-F238E27FC236}">
                <a16:creationId xmlns:a16="http://schemas.microsoft.com/office/drawing/2014/main" id="{6BE6EBDA-A226-3823-5A01-A938A487B3F8}"/>
              </a:ext>
            </a:extLst>
          </p:cNvPr>
          <p:cNvSpPr txBox="1"/>
          <p:nvPr/>
        </p:nvSpPr>
        <p:spPr>
          <a:xfrm>
            <a:off x="6768703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ICIR:</a:t>
            </a: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0.047</a:t>
            </a:r>
            <a:endParaRPr sz="1350" dirty="0"/>
          </a:p>
        </p:txBody>
      </p:sp>
      <p:sp>
        <p:nvSpPr>
          <p:cNvPr id="141" name="Google Shape;141;p15">
            <a:extLst>
              <a:ext uri="{FF2B5EF4-FFF2-40B4-BE49-F238E27FC236}">
                <a16:creationId xmlns:a16="http://schemas.microsoft.com/office/drawing/2014/main" id="{52BEE302-EC4F-0299-B04A-4696E264BB7A}"/>
              </a:ext>
            </a:extLst>
          </p:cNvPr>
          <p:cNvSpPr txBox="1"/>
          <p:nvPr/>
        </p:nvSpPr>
        <p:spPr>
          <a:xfrm>
            <a:off x="4972050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Sharpe:</a:t>
            </a: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 i="1" dirty="0">
                <a:solidFill>
                  <a:srgbClr val="94A3B8"/>
                </a:solidFill>
                <a:ea typeface="Inter"/>
                <a:cs typeface="Inter"/>
                <a:sym typeface="Inter"/>
              </a:rPr>
              <a:t>0</a:t>
            </a:r>
            <a:endParaRPr sz="1350" dirty="0"/>
          </a:p>
        </p:txBody>
      </p:sp>
      <p:sp>
        <p:nvSpPr>
          <p:cNvPr id="142" name="Google Shape;142;p15">
            <a:extLst>
              <a:ext uri="{FF2B5EF4-FFF2-40B4-BE49-F238E27FC236}">
                <a16:creationId xmlns:a16="http://schemas.microsoft.com/office/drawing/2014/main" id="{E67D4C7B-E9F1-E4FA-F5E4-8A7B60768DF4}"/>
              </a:ext>
            </a:extLst>
          </p:cNvPr>
          <p:cNvSpPr txBox="1"/>
          <p:nvPr/>
        </p:nvSpPr>
        <p:spPr>
          <a:xfrm>
            <a:off x="6768703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Verdict:</a:t>
            </a: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 dirty="0">
                <a:solidFill>
                  <a:srgbClr val="DC2626"/>
                </a:solidFill>
                <a:ea typeface="Inter SemiBold"/>
                <a:cs typeface="Inter SemiBold"/>
                <a:sym typeface="Inter SemiBold"/>
              </a:rPr>
              <a:t>Excluded</a:t>
            </a:r>
            <a:endParaRPr sz="1350" dirty="0"/>
          </a:p>
        </p:txBody>
      </p:sp>
      <p:sp>
        <p:nvSpPr>
          <p:cNvPr id="143" name="Google Shape;143;p15">
            <a:extLst>
              <a:ext uri="{FF2B5EF4-FFF2-40B4-BE49-F238E27FC236}">
                <a16:creationId xmlns:a16="http://schemas.microsoft.com/office/drawing/2014/main" id="{A7F92033-D858-7B32-4268-575E9F9C6050}"/>
              </a:ext>
            </a:extLst>
          </p:cNvPr>
          <p:cNvSpPr txBox="1"/>
          <p:nvPr/>
        </p:nvSpPr>
        <p:spPr>
          <a:xfrm>
            <a:off x="5114925" y="306466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Financial data is highly noisy</a:t>
            </a:r>
            <a:endParaRPr sz="1350" dirty="0"/>
          </a:p>
        </p:txBody>
      </p:sp>
      <p:sp>
        <p:nvSpPr>
          <p:cNvPr id="144" name="Google Shape;144;p15">
            <a:extLst>
              <a:ext uri="{FF2B5EF4-FFF2-40B4-BE49-F238E27FC236}">
                <a16:creationId xmlns:a16="http://schemas.microsoft.com/office/drawing/2014/main" id="{85A54C75-DD91-EAF5-66FC-0268C213B35E}"/>
              </a:ext>
            </a:extLst>
          </p:cNvPr>
          <p:cNvSpPr txBox="1"/>
          <p:nvPr/>
        </p:nvSpPr>
        <p:spPr>
          <a:xfrm>
            <a:off x="5114925" y="3318271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Features are already normalized</a:t>
            </a:r>
            <a:endParaRPr sz="1350" dirty="0"/>
          </a:p>
        </p:txBody>
      </p:sp>
      <p:sp>
        <p:nvSpPr>
          <p:cNvPr id="145" name="Google Shape;145;p15">
            <a:extLst>
              <a:ext uri="{FF2B5EF4-FFF2-40B4-BE49-F238E27FC236}">
                <a16:creationId xmlns:a16="http://schemas.microsoft.com/office/drawing/2014/main" id="{BD3AE111-31F1-16D5-AF8D-D79AB319289A}"/>
              </a:ext>
            </a:extLst>
          </p:cNvPr>
          <p:cNvSpPr txBox="1"/>
          <p:nvPr/>
        </p:nvSpPr>
        <p:spPr>
          <a:xfrm>
            <a:off x="5097065" y="3558815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Sensitive to hyperparameters</a:t>
            </a:r>
            <a:endParaRPr sz="1350" dirty="0"/>
          </a:p>
        </p:txBody>
      </p:sp>
      <p:sp>
        <p:nvSpPr>
          <p:cNvPr id="146" name="Google Shape;146;p15">
            <a:extLst>
              <a:ext uri="{FF2B5EF4-FFF2-40B4-BE49-F238E27FC236}">
                <a16:creationId xmlns:a16="http://schemas.microsoft.com/office/drawing/2014/main" id="{FDE47583-F69B-3124-51F9-06711EDB24E6}"/>
              </a:ext>
            </a:extLst>
          </p:cNvPr>
          <p:cNvSpPr txBox="1"/>
          <p:nvPr/>
        </p:nvSpPr>
        <p:spPr>
          <a:xfrm>
            <a:off x="5097065" y="3796750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Kernel-based non-linearity did not improve ranking</a:t>
            </a:r>
            <a:endParaRPr sz="1350" dirty="0"/>
          </a:p>
        </p:txBody>
      </p:sp>
      <p:sp>
        <p:nvSpPr>
          <p:cNvPr id="147" name="Google Shape;147;p15">
            <a:extLst>
              <a:ext uri="{FF2B5EF4-FFF2-40B4-BE49-F238E27FC236}">
                <a16:creationId xmlns:a16="http://schemas.microsoft.com/office/drawing/2014/main" id="{532EF1B6-1BED-4F80-4C95-5829D4633C5E}"/>
              </a:ext>
            </a:extLst>
          </p:cNvPr>
          <p:cNvSpPr txBox="1"/>
          <p:nvPr/>
        </p:nvSpPr>
        <p:spPr>
          <a:xfrm>
            <a:off x="685800" y="192881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48" name="Google Shape;148;p15">
            <a:extLst>
              <a:ext uri="{FF2B5EF4-FFF2-40B4-BE49-F238E27FC236}">
                <a16:creationId xmlns:a16="http://schemas.microsoft.com/office/drawing/2014/main" id="{E4CE2591-8912-F10F-764D-7819FA2F0EE2}"/>
              </a:ext>
            </a:extLst>
          </p:cNvPr>
          <p:cNvSpPr txBox="1"/>
          <p:nvPr/>
        </p:nvSpPr>
        <p:spPr>
          <a:xfrm>
            <a:off x="685800" y="2182415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49" name="Google Shape;149;p15">
            <a:extLst>
              <a:ext uri="{FF2B5EF4-FFF2-40B4-BE49-F238E27FC236}">
                <a16:creationId xmlns:a16="http://schemas.microsoft.com/office/drawing/2014/main" id="{8455F511-58F5-9C80-2B85-D50C6E49F9B2}"/>
              </a:ext>
            </a:extLst>
          </p:cNvPr>
          <p:cNvSpPr txBox="1"/>
          <p:nvPr/>
        </p:nvSpPr>
        <p:spPr>
          <a:xfrm>
            <a:off x="685800" y="2436019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0" name="Google Shape;150;p15">
            <a:extLst>
              <a:ext uri="{FF2B5EF4-FFF2-40B4-BE49-F238E27FC236}">
                <a16:creationId xmlns:a16="http://schemas.microsoft.com/office/drawing/2014/main" id="{ABC8BDAA-84C0-A4AD-D8F7-8B4AED0036FF}"/>
              </a:ext>
            </a:extLst>
          </p:cNvPr>
          <p:cNvSpPr txBox="1"/>
          <p:nvPr/>
        </p:nvSpPr>
        <p:spPr>
          <a:xfrm>
            <a:off x="685800" y="2689622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1" name="Google Shape;151;p15">
            <a:extLst>
              <a:ext uri="{FF2B5EF4-FFF2-40B4-BE49-F238E27FC236}">
                <a16:creationId xmlns:a16="http://schemas.microsoft.com/office/drawing/2014/main" id="{E17899C8-D7B2-79AA-9D1E-151AD01267E4}"/>
              </a:ext>
            </a:extLst>
          </p:cNvPr>
          <p:cNvSpPr txBox="1"/>
          <p:nvPr/>
        </p:nvSpPr>
        <p:spPr>
          <a:xfrm>
            <a:off x="4972050" y="3107531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2" name="Google Shape;152;p15">
            <a:extLst>
              <a:ext uri="{FF2B5EF4-FFF2-40B4-BE49-F238E27FC236}">
                <a16:creationId xmlns:a16="http://schemas.microsoft.com/office/drawing/2014/main" id="{CB29446F-C063-988C-84CD-75A8DF3D8A07}"/>
              </a:ext>
            </a:extLst>
          </p:cNvPr>
          <p:cNvSpPr txBox="1"/>
          <p:nvPr/>
        </p:nvSpPr>
        <p:spPr>
          <a:xfrm>
            <a:off x="4972050" y="3361134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3" name="Google Shape;153;p15">
            <a:extLst>
              <a:ext uri="{FF2B5EF4-FFF2-40B4-BE49-F238E27FC236}">
                <a16:creationId xmlns:a16="http://schemas.microsoft.com/office/drawing/2014/main" id="{EC7E86B1-FAAC-6003-5E97-78F5450B0132}"/>
              </a:ext>
            </a:extLst>
          </p:cNvPr>
          <p:cNvSpPr txBox="1"/>
          <p:nvPr/>
        </p:nvSpPr>
        <p:spPr>
          <a:xfrm>
            <a:off x="4972050" y="3614922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 dirty="0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 dirty="0"/>
          </a:p>
        </p:txBody>
      </p:sp>
      <p:sp>
        <p:nvSpPr>
          <p:cNvPr id="154" name="Google Shape;154;p15">
            <a:extLst>
              <a:ext uri="{FF2B5EF4-FFF2-40B4-BE49-F238E27FC236}">
                <a16:creationId xmlns:a16="http://schemas.microsoft.com/office/drawing/2014/main" id="{E5834A9A-D2EC-C520-C799-B3F692542D52}"/>
              </a:ext>
            </a:extLst>
          </p:cNvPr>
          <p:cNvSpPr txBox="1"/>
          <p:nvPr/>
        </p:nvSpPr>
        <p:spPr>
          <a:xfrm>
            <a:off x="4972050" y="384208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 dirty="0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 dirty="0"/>
          </a:p>
        </p:txBody>
      </p:sp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D1B3C84C-DCCB-7885-A7B4-60A930EF61E6}"/>
              </a:ext>
            </a:extLst>
          </p:cNvPr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Support Vector Regression Model Analysis</a:t>
            </a:r>
            <a:endParaRPr sz="135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6D9053E8-8668-1735-6D5A-64C27FD38FAD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86EB4B-347B-2B7B-E05A-653286D92317}"/>
              </a:ext>
            </a:extLst>
          </p:cNvPr>
          <p:cNvSpPr/>
          <p:nvPr/>
        </p:nvSpPr>
        <p:spPr>
          <a:xfrm>
            <a:off x="416052" y="181921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943E74C-1779-62FA-D33E-360299D373ED}"/>
              </a:ext>
            </a:extLst>
          </p:cNvPr>
          <p:cNvSpPr/>
          <p:nvPr/>
        </p:nvSpPr>
        <p:spPr>
          <a:xfrm>
            <a:off x="457200" y="990780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Google Shape;129;p15">
            <a:extLst>
              <a:ext uri="{FF2B5EF4-FFF2-40B4-BE49-F238E27FC236}">
                <a16:creationId xmlns:a16="http://schemas.microsoft.com/office/drawing/2014/main" id="{BD09E7E3-B5E5-664E-2FA3-F0F5C83BD5A0}"/>
              </a:ext>
            </a:extLst>
          </p:cNvPr>
          <p:cNvSpPr txBox="1"/>
          <p:nvPr/>
        </p:nvSpPr>
        <p:spPr>
          <a:xfrm>
            <a:off x="4972050" y="2817845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WHY IT </a:t>
            </a:r>
            <a:r>
              <a:rPr lang="en-US" sz="844" b="1" dirty="0">
                <a:solidFill>
                  <a:srgbClr val="64748B"/>
                </a:solidFill>
                <a:ea typeface="Inter" panose="020B0604020202020204" charset="0"/>
                <a:cs typeface="Inter"/>
                <a:sym typeface="Inter"/>
              </a:rPr>
              <a:t>UNDERPERFORMED</a:t>
            </a:r>
            <a:endParaRPr sz="1350" dirty="0">
              <a:ea typeface="Inter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400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1235869"/>
            <a:ext cx="4000500" cy="3550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1235869"/>
            <a:ext cx="4000500" cy="355044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68580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Model Architecture</a:t>
            </a:r>
            <a:endParaRPr sz="1350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685800" y="3078957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>
                <a:solidFill>
                  <a:srgbClr val="64748B"/>
                </a:solidFill>
                <a:ea typeface="Inter"/>
                <a:cs typeface="Inter"/>
                <a:sym typeface="Inter"/>
              </a:rPr>
              <a:t>HYPERPARAMETERS</a:t>
            </a:r>
            <a:endParaRPr sz="1350"/>
          </a:p>
        </p:txBody>
      </p:sp>
      <p:sp>
        <p:nvSpPr>
          <p:cNvPr id="127" name="Google Shape;127;p15"/>
          <p:cNvSpPr/>
          <p:nvPr/>
        </p:nvSpPr>
        <p:spPr>
          <a:xfrm>
            <a:off x="685800" y="3250407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497205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 dirty="0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Performance &amp; Verdict</a:t>
            </a:r>
            <a:endParaRPr sz="1350" dirty="0"/>
          </a:p>
        </p:txBody>
      </p:sp>
      <p:sp>
        <p:nvSpPr>
          <p:cNvPr id="129" name="Google Shape;129;p15"/>
          <p:cNvSpPr txBox="1"/>
          <p:nvPr/>
        </p:nvSpPr>
        <p:spPr>
          <a:xfrm>
            <a:off x="4972050" y="2814638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WHY IT </a:t>
            </a:r>
            <a:r>
              <a:rPr lang="en-US" sz="844" b="1" dirty="0">
                <a:solidFill>
                  <a:srgbClr val="64748B"/>
                </a:solidFill>
                <a:ea typeface="Inter" panose="020B0604020202020204" charset="0"/>
                <a:cs typeface="Inter"/>
                <a:sym typeface="Inter"/>
              </a:rPr>
              <a:t>UNDERPERFORMED</a:t>
            </a:r>
            <a:endParaRPr sz="1350" dirty="0">
              <a:ea typeface="Inter" panose="020B0604020202020204" charset="0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4972050" y="2986088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828675" y="1885950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Tree-based model utilizing a single decision tree.</a:t>
            </a:r>
            <a:endParaRPr sz="1350" dirty="0"/>
          </a:p>
        </p:txBody>
      </p:sp>
      <p:sp>
        <p:nvSpPr>
          <p:cNvPr id="132" name="Google Shape;132;p15"/>
          <p:cNvSpPr txBox="1"/>
          <p:nvPr/>
        </p:nvSpPr>
        <p:spPr>
          <a:xfrm>
            <a:off x="828675" y="2139553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Uses feature splits to make predictions.</a:t>
            </a:r>
            <a:endParaRPr sz="1350"/>
          </a:p>
        </p:txBody>
      </p:sp>
      <p:sp>
        <p:nvSpPr>
          <p:cNvPr id="133" name="Google Shape;133;p15"/>
          <p:cNvSpPr txBox="1"/>
          <p:nvPr/>
        </p:nvSpPr>
        <p:spPr>
          <a:xfrm>
            <a:off x="828675" y="2393156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Learns non-linear relationships via splits.</a:t>
            </a:r>
            <a:endParaRPr sz="1350" dirty="0"/>
          </a:p>
        </p:txBody>
      </p:sp>
      <p:sp>
        <p:nvSpPr>
          <p:cNvPr id="134" name="Google Shape;134;p15"/>
          <p:cNvSpPr txBox="1"/>
          <p:nvPr/>
        </p:nvSpPr>
        <p:spPr>
          <a:xfrm>
            <a:off x="828675" y="264675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Implemented utilizing the Scikit-learn library.</a:t>
            </a:r>
            <a:endParaRPr sz="1350" dirty="0"/>
          </a:p>
        </p:txBody>
      </p:sp>
      <p:sp>
        <p:nvSpPr>
          <p:cNvPr id="135" name="Google Shape;135;p15"/>
          <p:cNvSpPr txBox="1"/>
          <p:nvPr/>
        </p:nvSpPr>
        <p:spPr>
          <a:xfrm>
            <a:off x="685800" y="3328987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Max_depth: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None</a:t>
            </a:r>
            <a:endParaRPr sz="1350"/>
          </a:p>
        </p:txBody>
      </p:sp>
      <p:sp>
        <p:nvSpPr>
          <p:cNvPr id="136" name="Google Shape;136;p15"/>
          <p:cNvSpPr txBox="1"/>
          <p:nvPr/>
        </p:nvSpPr>
        <p:spPr>
          <a:xfrm>
            <a:off x="2482453" y="3328987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Min_samples_split: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2</a:t>
            </a:r>
            <a:endParaRPr sz="1350"/>
          </a:p>
        </p:txBody>
      </p:sp>
      <p:sp>
        <p:nvSpPr>
          <p:cNvPr id="137" name="Google Shape;137;p15"/>
          <p:cNvSpPr txBox="1"/>
          <p:nvPr/>
        </p:nvSpPr>
        <p:spPr>
          <a:xfrm>
            <a:off x="685800" y="3704034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Min_samples_leaf: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1</a:t>
            </a:r>
            <a:endParaRPr sz="1350"/>
          </a:p>
        </p:txBody>
      </p:sp>
      <p:sp>
        <p:nvSpPr>
          <p:cNvPr id="138" name="Google Shape;138;p15"/>
          <p:cNvSpPr txBox="1"/>
          <p:nvPr/>
        </p:nvSpPr>
        <p:spPr>
          <a:xfrm>
            <a:off x="2482453" y="3704034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Random_state: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42</a:t>
            </a:r>
            <a:endParaRPr sz="1350"/>
          </a:p>
        </p:txBody>
      </p:sp>
      <p:sp>
        <p:nvSpPr>
          <p:cNvPr id="139" name="Google Shape;139;p15"/>
          <p:cNvSpPr txBox="1"/>
          <p:nvPr/>
        </p:nvSpPr>
        <p:spPr>
          <a:xfrm>
            <a:off x="4972050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 Mean: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0.003</a:t>
            </a:r>
            <a:endParaRPr sz="1350"/>
          </a:p>
        </p:txBody>
      </p:sp>
      <p:sp>
        <p:nvSpPr>
          <p:cNvPr id="140" name="Google Shape;140;p15"/>
          <p:cNvSpPr txBox="1"/>
          <p:nvPr/>
        </p:nvSpPr>
        <p:spPr>
          <a:xfrm>
            <a:off x="6768703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ICIR: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_</a:t>
            </a:r>
            <a:endParaRPr sz="1350"/>
          </a:p>
        </p:txBody>
      </p:sp>
      <p:sp>
        <p:nvSpPr>
          <p:cNvPr id="141" name="Google Shape;141;p15"/>
          <p:cNvSpPr txBox="1"/>
          <p:nvPr/>
        </p:nvSpPr>
        <p:spPr>
          <a:xfrm>
            <a:off x="4972050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Sharpe:</a:t>
            </a: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 i="1" dirty="0">
                <a:solidFill>
                  <a:srgbClr val="94A3B8"/>
                </a:solidFill>
                <a:ea typeface="Inter"/>
                <a:cs typeface="Inter"/>
                <a:sym typeface="Inter"/>
              </a:rPr>
              <a:t>Negative</a:t>
            </a:r>
            <a:endParaRPr sz="1350" dirty="0"/>
          </a:p>
        </p:txBody>
      </p:sp>
      <p:sp>
        <p:nvSpPr>
          <p:cNvPr id="142" name="Google Shape;142;p15"/>
          <p:cNvSpPr txBox="1"/>
          <p:nvPr/>
        </p:nvSpPr>
        <p:spPr>
          <a:xfrm>
            <a:off x="6768703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Verdict: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>
                <a:solidFill>
                  <a:srgbClr val="DC2626"/>
                </a:solidFill>
                <a:ea typeface="Inter SemiBold"/>
                <a:cs typeface="Inter SemiBold"/>
                <a:sym typeface="Inter SemiBold"/>
              </a:rPr>
              <a:t>Excluded</a:t>
            </a:r>
            <a:endParaRPr sz="1350"/>
          </a:p>
        </p:txBody>
      </p:sp>
      <p:sp>
        <p:nvSpPr>
          <p:cNvPr id="143" name="Google Shape;143;p15"/>
          <p:cNvSpPr txBox="1"/>
          <p:nvPr/>
        </p:nvSpPr>
        <p:spPr>
          <a:xfrm>
            <a:off x="5114925" y="306466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Displays high variance and extreme overfitting.</a:t>
            </a:r>
            <a:endParaRPr sz="1350" dirty="0"/>
          </a:p>
        </p:txBody>
      </p:sp>
      <p:sp>
        <p:nvSpPr>
          <p:cNvPr id="144" name="Google Shape;144;p15"/>
          <p:cNvSpPr txBox="1"/>
          <p:nvPr/>
        </p:nvSpPr>
        <p:spPr>
          <a:xfrm>
            <a:off x="5114925" y="3318271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Primarily captures noise rather than signal in financial data.</a:t>
            </a:r>
            <a:endParaRPr sz="1350"/>
          </a:p>
        </p:txBody>
      </p:sp>
      <p:sp>
        <p:nvSpPr>
          <p:cNvPr id="145" name="Google Shape;145;p15"/>
          <p:cNvSpPr txBox="1"/>
          <p:nvPr/>
        </p:nvSpPr>
        <p:spPr>
          <a:xfrm>
            <a:off x="5114925" y="3573384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Yields highly unstable predictions across time horizons.</a:t>
            </a:r>
            <a:endParaRPr sz="1350" dirty="0"/>
          </a:p>
        </p:txBody>
      </p:sp>
      <p:sp>
        <p:nvSpPr>
          <p:cNvPr id="146" name="Google Shape;146;p15"/>
          <p:cNvSpPr txBox="1"/>
          <p:nvPr/>
        </p:nvSpPr>
        <p:spPr>
          <a:xfrm>
            <a:off x="5114925" y="3826988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As a single tree, it completely lacks structural generalization.</a:t>
            </a:r>
            <a:endParaRPr sz="1350"/>
          </a:p>
        </p:txBody>
      </p:sp>
      <p:sp>
        <p:nvSpPr>
          <p:cNvPr id="147" name="Google Shape;147;p15"/>
          <p:cNvSpPr txBox="1"/>
          <p:nvPr/>
        </p:nvSpPr>
        <p:spPr>
          <a:xfrm>
            <a:off x="685800" y="192881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48" name="Google Shape;148;p15"/>
          <p:cNvSpPr txBox="1"/>
          <p:nvPr/>
        </p:nvSpPr>
        <p:spPr>
          <a:xfrm>
            <a:off x="685800" y="2182415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49" name="Google Shape;149;p15"/>
          <p:cNvSpPr txBox="1"/>
          <p:nvPr/>
        </p:nvSpPr>
        <p:spPr>
          <a:xfrm>
            <a:off x="685800" y="2436019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0" name="Google Shape;150;p15"/>
          <p:cNvSpPr txBox="1"/>
          <p:nvPr/>
        </p:nvSpPr>
        <p:spPr>
          <a:xfrm>
            <a:off x="685800" y="2689622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1" name="Google Shape;151;p15"/>
          <p:cNvSpPr txBox="1"/>
          <p:nvPr/>
        </p:nvSpPr>
        <p:spPr>
          <a:xfrm>
            <a:off x="4972050" y="3107531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2" name="Google Shape;152;p15"/>
          <p:cNvSpPr txBox="1"/>
          <p:nvPr/>
        </p:nvSpPr>
        <p:spPr>
          <a:xfrm>
            <a:off x="4972050" y="3361134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3" name="Google Shape;153;p15"/>
          <p:cNvSpPr txBox="1"/>
          <p:nvPr/>
        </p:nvSpPr>
        <p:spPr>
          <a:xfrm>
            <a:off x="4972050" y="3616247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4" name="Google Shape;154;p15"/>
          <p:cNvSpPr txBox="1"/>
          <p:nvPr/>
        </p:nvSpPr>
        <p:spPr>
          <a:xfrm>
            <a:off x="4972050" y="3869850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56" name="Google Shape;156;p15"/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Decision-Tree Model Analysis</a:t>
            </a:r>
            <a:endParaRPr sz="135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2E92F0FA-81E4-C55C-7665-12F7D79715B2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EEEC5E4-D58C-73E2-51AD-EB9A0E941794}"/>
              </a:ext>
            </a:extLst>
          </p:cNvPr>
          <p:cNvSpPr/>
          <p:nvPr/>
        </p:nvSpPr>
        <p:spPr>
          <a:xfrm>
            <a:off x="416052" y="181921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4908564-C5F7-E317-BA14-2A018F490714}"/>
              </a:ext>
            </a:extLst>
          </p:cNvPr>
          <p:cNvSpPr/>
          <p:nvPr/>
        </p:nvSpPr>
        <p:spPr>
          <a:xfrm>
            <a:off x="457200" y="990141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>
          <a:extLst>
            <a:ext uri="{FF2B5EF4-FFF2-40B4-BE49-F238E27FC236}">
              <a16:creationId xmlns:a16="http://schemas.microsoft.com/office/drawing/2014/main" id="{76CBE56E-BC4A-7308-4D1F-61F6F85F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>
            <a:extLst>
              <a:ext uri="{FF2B5EF4-FFF2-40B4-BE49-F238E27FC236}">
                <a16:creationId xmlns:a16="http://schemas.microsoft.com/office/drawing/2014/main" id="{A8D52DD9-A6AB-D05B-E81C-440F7EF53AD1}"/>
              </a:ext>
            </a:extLst>
          </p:cNvPr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Decision-Tree Model: Hyperparameter Tuning</a:t>
            </a:r>
            <a:endParaRPr sz="135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B0D43653-0016-F2DA-189F-8D50AE793DC5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8C5CAE-0169-6DD9-CA12-4D8269CE9EDD}"/>
              </a:ext>
            </a:extLst>
          </p:cNvPr>
          <p:cNvSpPr/>
          <p:nvPr/>
        </p:nvSpPr>
        <p:spPr>
          <a:xfrm>
            <a:off x="416052" y="181921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F4C50A7-63E1-BD10-5C78-45D390F9B208}"/>
              </a:ext>
            </a:extLst>
          </p:cNvPr>
          <p:cNvSpPr/>
          <p:nvPr/>
        </p:nvSpPr>
        <p:spPr>
          <a:xfrm>
            <a:off x="457200" y="990141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7AEE66-8BD5-BCD7-9B82-C9EE2837E6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56" y="1156647"/>
            <a:ext cx="4408834" cy="3586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D2F6AD-9CA0-7294-5DFD-34F3E26F0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067" y="1156647"/>
            <a:ext cx="4288637" cy="358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3385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1235869"/>
            <a:ext cx="40005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1235869"/>
            <a:ext cx="400050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 txBox="1"/>
          <p:nvPr/>
        </p:nvSpPr>
        <p:spPr>
          <a:xfrm>
            <a:off x="68580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Model Architecture</a:t>
            </a:r>
            <a:endParaRPr sz="1350"/>
          </a:p>
        </p:txBody>
      </p:sp>
      <p:sp>
        <p:nvSpPr>
          <p:cNvPr id="165" name="Google Shape;165;p16"/>
          <p:cNvSpPr txBox="1"/>
          <p:nvPr/>
        </p:nvSpPr>
        <p:spPr>
          <a:xfrm>
            <a:off x="685800" y="3078957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>
                <a:solidFill>
                  <a:srgbClr val="64748B"/>
                </a:solidFill>
                <a:ea typeface="Inter"/>
                <a:cs typeface="Inter"/>
                <a:sym typeface="Inter"/>
              </a:rPr>
              <a:t>HYPERPARAMETERS</a:t>
            </a:r>
            <a:endParaRPr sz="1350"/>
          </a:p>
        </p:txBody>
      </p:sp>
      <p:sp>
        <p:nvSpPr>
          <p:cNvPr id="166" name="Google Shape;166;p16"/>
          <p:cNvSpPr/>
          <p:nvPr/>
        </p:nvSpPr>
        <p:spPr>
          <a:xfrm>
            <a:off x="685800" y="3250407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497205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Performance &amp; Verdict</a:t>
            </a:r>
            <a:endParaRPr sz="1350"/>
          </a:p>
        </p:txBody>
      </p:sp>
      <p:sp>
        <p:nvSpPr>
          <p:cNvPr id="168" name="Google Shape;168;p16"/>
          <p:cNvSpPr txBox="1"/>
          <p:nvPr/>
        </p:nvSpPr>
        <p:spPr>
          <a:xfrm>
            <a:off x="4972050" y="2814638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>
                <a:solidFill>
                  <a:srgbClr val="64748B"/>
                </a:solidFill>
                <a:ea typeface="Inter"/>
                <a:cs typeface="Inter"/>
                <a:sym typeface="Inter"/>
              </a:rPr>
              <a:t>WHY IT UNDERPERFORMED</a:t>
            </a:r>
            <a:endParaRPr sz="1350"/>
          </a:p>
        </p:txBody>
      </p:sp>
      <p:sp>
        <p:nvSpPr>
          <p:cNvPr id="169" name="Google Shape;169;p16"/>
          <p:cNvSpPr/>
          <p:nvPr/>
        </p:nvSpPr>
        <p:spPr>
          <a:xfrm>
            <a:off x="4972050" y="2986088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828675" y="1885950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Ensemble tree-based model designed for robustness.</a:t>
            </a:r>
            <a:endParaRPr sz="1350"/>
          </a:p>
        </p:txBody>
      </p:sp>
      <p:sp>
        <p:nvSpPr>
          <p:cNvPr id="171" name="Google Shape;171;p16"/>
          <p:cNvSpPr txBox="1"/>
          <p:nvPr/>
        </p:nvSpPr>
        <p:spPr>
          <a:xfrm>
            <a:off x="828675" y="2139553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Operates by combining multiple decision trees.</a:t>
            </a:r>
            <a:endParaRPr sz="1350"/>
          </a:p>
        </p:txBody>
      </p:sp>
      <p:sp>
        <p:nvSpPr>
          <p:cNvPr id="172" name="Google Shape;172;p16"/>
          <p:cNvSpPr txBox="1"/>
          <p:nvPr/>
        </p:nvSpPr>
        <p:spPr>
          <a:xfrm>
            <a:off x="828675" y="2393156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Actively reduces variance via output averaging.</a:t>
            </a:r>
            <a:endParaRPr sz="1350"/>
          </a:p>
        </p:txBody>
      </p:sp>
      <p:sp>
        <p:nvSpPr>
          <p:cNvPr id="173" name="Google Shape;173;p16"/>
          <p:cNvSpPr txBox="1"/>
          <p:nvPr/>
        </p:nvSpPr>
        <p:spPr>
          <a:xfrm>
            <a:off x="828675" y="264675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Implemented utilizing the Scikit-learn library.</a:t>
            </a:r>
            <a:endParaRPr sz="1350"/>
          </a:p>
        </p:txBody>
      </p:sp>
      <p:sp>
        <p:nvSpPr>
          <p:cNvPr id="174" name="Google Shape;174;p16"/>
          <p:cNvSpPr txBox="1"/>
          <p:nvPr/>
        </p:nvSpPr>
        <p:spPr>
          <a:xfrm>
            <a:off x="685800" y="3328987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N_estimators: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100</a:t>
            </a:r>
            <a:endParaRPr sz="1350"/>
          </a:p>
        </p:txBody>
      </p:sp>
      <p:sp>
        <p:nvSpPr>
          <p:cNvPr id="175" name="Google Shape;175;p16"/>
          <p:cNvSpPr txBox="1"/>
          <p:nvPr/>
        </p:nvSpPr>
        <p:spPr>
          <a:xfrm>
            <a:off x="2482453" y="3328987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Max_depth: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None</a:t>
            </a:r>
            <a:endParaRPr sz="1350"/>
          </a:p>
        </p:txBody>
      </p:sp>
      <p:sp>
        <p:nvSpPr>
          <p:cNvPr id="176" name="Google Shape;176;p16"/>
          <p:cNvSpPr txBox="1"/>
          <p:nvPr/>
        </p:nvSpPr>
        <p:spPr>
          <a:xfrm>
            <a:off x="685800" y="3704034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Min_samples_split: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2</a:t>
            </a:r>
            <a:endParaRPr sz="1350"/>
          </a:p>
        </p:txBody>
      </p:sp>
      <p:sp>
        <p:nvSpPr>
          <p:cNvPr id="177" name="Google Shape;177;p16"/>
          <p:cNvSpPr txBox="1"/>
          <p:nvPr/>
        </p:nvSpPr>
        <p:spPr>
          <a:xfrm>
            <a:off x="2482453" y="3704034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Min_samples_leaf: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1</a:t>
            </a:r>
            <a:endParaRPr sz="1350"/>
          </a:p>
        </p:txBody>
      </p:sp>
      <p:sp>
        <p:nvSpPr>
          <p:cNvPr id="178" name="Google Shape;178;p16"/>
          <p:cNvSpPr txBox="1"/>
          <p:nvPr/>
        </p:nvSpPr>
        <p:spPr>
          <a:xfrm>
            <a:off x="685800" y="4079081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Random_state: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42</a:t>
            </a:r>
            <a:endParaRPr sz="1350"/>
          </a:p>
        </p:txBody>
      </p:sp>
      <p:sp>
        <p:nvSpPr>
          <p:cNvPr id="179" name="Google Shape;179;p16"/>
          <p:cNvSpPr txBox="1"/>
          <p:nvPr/>
        </p:nvSpPr>
        <p:spPr>
          <a:xfrm>
            <a:off x="4972050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 Mean: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0.002</a:t>
            </a:r>
            <a:endParaRPr sz="1350"/>
          </a:p>
        </p:txBody>
      </p:sp>
      <p:sp>
        <p:nvSpPr>
          <p:cNvPr id="180" name="Google Shape;180;p16"/>
          <p:cNvSpPr txBox="1"/>
          <p:nvPr/>
        </p:nvSpPr>
        <p:spPr>
          <a:xfrm>
            <a:off x="6768703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ICIR: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_</a:t>
            </a:r>
            <a:endParaRPr sz="1350"/>
          </a:p>
        </p:txBody>
      </p:sp>
      <p:sp>
        <p:nvSpPr>
          <p:cNvPr id="181" name="Google Shape;181;p16"/>
          <p:cNvSpPr txBox="1"/>
          <p:nvPr/>
        </p:nvSpPr>
        <p:spPr>
          <a:xfrm>
            <a:off x="4972050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Sharpe: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 i="1">
                <a:solidFill>
                  <a:srgbClr val="94A3B8"/>
                </a:solidFill>
                <a:ea typeface="Inter"/>
                <a:cs typeface="Inter"/>
                <a:sym typeface="Inter"/>
              </a:rPr>
              <a:t>Negative</a:t>
            </a:r>
            <a:endParaRPr sz="1350"/>
          </a:p>
        </p:txBody>
      </p:sp>
      <p:sp>
        <p:nvSpPr>
          <p:cNvPr id="182" name="Google Shape;182;p16"/>
          <p:cNvSpPr txBox="1"/>
          <p:nvPr/>
        </p:nvSpPr>
        <p:spPr>
          <a:xfrm>
            <a:off x="6768703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Verdict: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>
                <a:solidFill>
                  <a:srgbClr val="DC2626"/>
                </a:solidFill>
                <a:ea typeface="Inter SemiBold"/>
                <a:cs typeface="Inter SemiBold"/>
                <a:sym typeface="Inter SemiBold"/>
              </a:rPr>
              <a:t>Excluded</a:t>
            </a:r>
            <a:endParaRPr sz="1350"/>
          </a:p>
        </p:txBody>
      </p:sp>
      <p:sp>
        <p:nvSpPr>
          <p:cNvPr id="183" name="Google Shape;183;p16"/>
          <p:cNvSpPr txBox="1"/>
          <p:nvPr/>
        </p:nvSpPr>
        <p:spPr>
          <a:xfrm>
            <a:off x="5114925" y="306466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Struggled with the inherently weak signal in financial data.</a:t>
            </a:r>
            <a:endParaRPr sz="1350"/>
          </a:p>
        </p:txBody>
      </p:sp>
      <p:sp>
        <p:nvSpPr>
          <p:cNvPr id="184" name="Google Shape;184;p16"/>
          <p:cNvSpPr txBox="1"/>
          <p:nvPr/>
        </p:nvSpPr>
        <p:spPr>
          <a:xfrm>
            <a:off x="5114925" y="3390765"/>
            <a:ext cx="3343275" cy="44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The ensemble approach could not extract useful, predictive patterns.</a:t>
            </a:r>
            <a:endParaRPr sz="1350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5114925" y="3826534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Features were already normalized, limiting non-linearity benefits.</a:t>
            </a:r>
            <a:endParaRPr sz="1350"/>
          </a:p>
        </p:txBody>
      </p:sp>
      <p:sp>
        <p:nvSpPr>
          <p:cNvPr id="186" name="Google Shape;186;p16"/>
          <p:cNvSpPr txBox="1"/>
          <p:nvPr/>
        </p:nvSpPr>
        <p:spPr>
          <a:xfrm>
            <a:off x="5114925" y="4154456"/>
            <a:ext cx="3343275" cy="44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While overfitting was reduced compared to the single tree, there was no overall signal improvement.</a:t>
            </a:r>
            <a:endParaRPr sz="1350"/>
          </a:p>
        </p:txBody>
      </p:sp>
      <p:sp>
        <p:nvSpPr>
          <p:cNvPr id="187" name="Google Shape;187;p16"/>
          <p:cNvSpPr txBox="1"/>
          <p:nvPr/>
        </p:nvSpPr>
        <p:spPr>
          <a:xfrm>
            <a:off x="685800" y="192881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88" name="Google Shape;188;p16"/>
          <p:cNvSpPr txBox="1"/>
          <p:nvPr/>
        </p:nvSpPr>
        <p:spPr>
          <a:xfrm>
            <a:off x="685800" y="2182415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89" name="Google Shape;189;p16"/>
          <p:cNvSpPr txBox="1"/>
          <p:nvPr/>
        </p:nvSpPr>
        <p:spPr>
          <a:xfrm>
            <a:off x="685800" y="2436019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90" name="Google Shape;190;p16"/>
          <p:cNvSpPr txBox="1"/>
          <p:nvPr/>
        </p:nvSpPr>
        <p:spPr>
          <a:xfrm>
            <a:off x="685800" y="2689622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91" name="Google Shape;191;p16"/>
          <p:cNvSpPr txBox="1"/>
          <p:nvPr/>
        </p:nvSpPr>
        <p:spPr>
          <a:xfrm>
            <a:off x="4972050" y="3107531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92" name="Google Shape;192;p16"/>
          <p:cNvSpPr txBox="1"/>
          <p:nvPr/>
        </p:nvSpPr>
        <p:spPr>
          <a:xfrm>
            <a:off x="4972050" y="3433628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93" name="Google Shape;193;p16"/>
          <p:cNvSpPr txBox="1"/>
          <p:nvPr/>
        </p:nvSpPr>
        <p:spPr>
          <a:xfrm>
            <a:off x="4972050" y="3869397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94" name="Google Shape;194;p16"/>
          <p:cNvSpPr txBox="1"/>
          <p:nvPr/>
        </p:nvSpPr>
        <p:spPr>
          <a:xfrm>
            <a:off x="4972050" y="4197318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196" name="Google Shape;196;p16"/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Random Forest Model Analysis</a:t>
            </a:r>
            <a:endParaRPr sz="13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5A34224B-9A80-6837-011D-8AEB6A1CE363}"/>
              </a:ext>
            </a:extLst>
          </p:cNvPr>
          <p:cNvSpPr/>
          <p:nvPr/>
        </p:nvSpPr>
        <p:spPr>
          <a:xfrm>
            <a:off x="428625" y="1923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3AF5F439-CF86-E054-9454-0698040B9245}"/>
              </a:ext>
            </a:extLst>
          </p:cNvPr>
          <p:cNvSpPr/>
          <p:nvPr/>
        </p:nvSpPr>
        <p:spPr>
          <a:xfrm>
            <a:off x="457200" y="987651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56B77106-CAF5-7AD8-6D9D-A8101E70DE67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E87EDF4B-42FC-9FF9-6B66-72F18473A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>
            <a:extLst>
              <a:ext uri="{FF2B5EF4-FFF2-40B4-BE49-F238E27FC236}">
                <a16:creationId xmlns:a16="http://schemas.microsoft.com/office/drawing/2014/main" id="{C729DEA4-4DE1-2050-D9C6-3A0DF093D643}"/>
              </a:ext>
            </a:extLst>
          </p:cNvPr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Random Forest Model: Hyperparameter Tuning</a:t>
            </a:r>
            <a:endParaRPr sz="13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AE7FC4DA-16D9-1647-5714-EE85CD441DFD}"/>
              </a:ext>
            </a:extLst>
          </p:cNvPr>
          <p:cNvSpPr/>
          <p:nvPr/>
        </p:nvSpPr>
        <p:spPr>
          <a:xfrm>
            <a:off x="428625" y="1923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8B2F2269-FC74-9096-AE9F-1B3CDC71EB28}"/>
              </a:ext>
            </a:extLst>
          </p:cNvPr>
          <p:cNvSpPr/>
          <p:nvPr/>
        </p:nvSpPr>
        <p:spPr>
          <a:xfrm>
            <a:off x="457200" y="987651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90C71CB-887E-CF75-394A-3E4D30A03A54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42036D-5405-1F53-474D-55BE00858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51667"/>
            <a:ext cx="3225097" cy="37995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233526-907B-7CF7-72FD-8A9976535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809" y="1151667"/>
            <a:ext cx="4658341" cy="379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906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1235869"/>
            <a:ext cx="4000500" cy="382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14875" y="1235869"/>
            <a:ext cx="4000500" cy="38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7"/>
          <p:cNvSpPr txBox="1"/>
          <p:nvPr/>
        </p:nvSpPr>
        <p:spPr>
          <a:xfrm>
            <a:off x="68580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Model Architecture</a:t>
            </a:r>
            <a:endParaRPr sz="1350"/>
          </a:p>
        </p:txBody>
      </p:sp>
      <p:sp>
        <p:nvSpPr>
          <p:cNvPr id="205" name="Google Shape;205;p17"/>
          <p:cNvSpPr txBox="1"/>
          <p:nvPr/>
        </p:nvSpPr>
        <p:spPr>
          <a:xfrm>
            <a:off x="685800" y="3443288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>
                <a:solidFill>
                  <a:srgbClr val="64748B"/>
                </a:solidFill>
                <a:ea typeface="Inter"/>
                <a:cs typeface="Inter"/>
                <a:sym typeface="Inter"/>
              </a:rPr>
              <a:t>HYPERPARAMETERS</a:t>
            </a:r>
            <a:endParaRPr sz="1350"/>
          </a:p>
        </p:txBody>
      </p:sp>
      <p:sp>
        <p:nvSpPr>
          <p:cNvPr id="206" name="Google Shape;206;p17"/>
          <p:cNvSpPr/>
          <p:nvPr/>
        </p:nvSpPr>
        <p:spPr>
          <a:xfrm>
            <a:off x="685800" y="3614738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4972050" y="1493044"/>
            <a:ext cx="3660458" cy="22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63" b="1">
                <a:solidFill>
                  <a:srgbClr val="0F172A"/>
                </a:solidFill>
                <a:ea typeface="Playfair Display"/>
                <a:cs typeface="Playfair Display"/>
                <a:sym typeface="Playfair Display"/>
              </a:rPr>
              <a:t>Performance &amp; Verdict</a:t>
            </a:r>
            <a:endParaRPr sz="1350"/>
          </a:p>
        </p:txBody>
      </p:sp>
      <p:sp>
        <p:nvSpPr>
          <p:cNvPr id="208" name="Google Shape;208;p17"/>
          <p:cNvSpPr txBox="1"/>
          <p:nvPr/>
        </p:nvSpPr>
        <p:spPr>
          <a:xfrm>
            <a:off x="4972050" y="2814638"/>
            <a:ext cx="3660458" cy="129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844" b="1">
                <a:solidFill>
                  <a:srgbClr val="64748B"/>
                </a:solidFill>
                <a:ea typeface="Inter"/>
                <a:cs typeface="Inter"/>
                <a:sym typeface="Inter"/>
              </a:rPr>
              <a:t>WHY IT PARTIALLY WORKED</a:t>
            </a:r>
            <a:endParaRPr sz="1350"/>
          </a:p>
        </p:txBody>
      </p:sp>
      <p:sp>
        <p:nvSpPr>
          <p:cNvPr id="209" name="Google Shape;209;p17"/>
          <p:cNvSpPr/>
          <p:nvPr/>
        </p:nvSpPr>
        <p:spPr>
          <a:xfrm>
            <a:off x="4972050" y="2986088"/>
            <a:ext cx="348615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algn="ctr"/>
            <a:endParaRPr sz="135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 txBox="1"/>
          <p:nvPr/>
        </p:nvSpPr>
        <p:spPr>
          <a:xfrm>
            <a:off x="828675" y="1885950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Ensemble tree-based model employing sequential learning.</a:t>
            </a:r>
            <a:endParaRPr sz="1350"/>
          </a:p>
        </p:txBody>
      </p:sp>
      <p:sp>
        <p:nvSpPr>
          <p:cNvPr id="211" name="Google Shape;211;p17"/>
          <p:cNvSpPr txBox="1"/>
          <p:nvPr/>
        </p:nvSpPr>
        <p:spPr>
          <a:xfrm>
            <a:off x="828675" y="2171701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Iteratively builds trees specifically to correct previous errors.</a:t>
            </a:r>
            <a:endParaRPr sz="1350"/>
          </a:p>
        </p:txBody>
      </p:sp>
      <p:sp>
        <p:nvSpPr>
          <p:cNvPr id="212" name="Google Shape;212;p17"/>
          <p:cNvSpPr txBox="1"/>
          <p:nvPr/>
        </p:nvSpPr>
        <p:spPr>
          <a:xfrm>
            <a:off x="828675" y="2439858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Highly adept at capturing complex non-linear patterns.</a:t>
            </a:r>
            <a:endParaRPr sz="1350"/>
          </a:p>
        </p:txBody>
      </p:sp>
      <p:sp>
        <p:nvSpPr>
          <p:cNvPr id="213" name="Google Shape;213;p17"/>
          <p:cNvSpPr txBox="1"/>
          <p:nvPr/>
        </p:nvSpPr>
        <p:spPr>
          <a:xfrm>
            <a:off x="828675" y="2693461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Implemented utilizing the Scikit-learn library.</a:t>
            </a:r>
            <a:endParaRPr sz="1350"/>
          </a:p>
        </p:txBody>
      </p:sp>
      <p:sp>
        <p:nvSpPr>
          <p:cNvPr id="214" name="Google Shape;214;p17"/>
          <p:cNvSpPr txBox="1"/>
          <p:nvPr/>
        </p:nvSpPr>
        <p:spPr>
          <a:xfrm>
            <a:off x="685800" y="3693319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N_estimators: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100</a:t>
            </a:r>
            <a:endParaRPr sz="1350"/>
          </a:p>
        </p:txBody>
      </p:sp>
      <p:sp>
        <p:nvSpPr>
          <p:cNvPr id="215" name="Google Shape;215;p17"/>
          <p:cNvSpPr txBox="1"/>
          <p:nvPr/>
        </p:nvSpPr>
        <p:spPr>
          <a:xfrm>
            <a:off x="2482453" y="3693319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Learning_rate: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0.05</a:t>
            </a:r>
            <a:endParaRPr sz="1350"/>
          </a:p>
        </p:txBody>
      </p:sp>
      <p:sp>
        <p:nvSpPr>
          <p:cNvPr id="216" name="Google Shape;216;p17"/>
          <p:cNvSpPr txBox="1"/>
          <p:nvPr/>
        </p:nvSpPr>
        <p:spPr>
          <a:xfrm>
            <a:off x="685800" y="4068365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Max_depth: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3</a:t>
            </a:r>
            <a:endParaRPr sz="1350"/>
          </a:p>
        </p:txBody>
      </p:sp>
      <p:sp>
        <p:nvSpPr>
          <p:cNvPr id="217" name="Google Shape;217;p17"/>
          <p:cNvSpPr txBox="1"/>
          <p:nvPr/>
        </p:nvSpPr>
        <p:spPr>
          <a:xfrm>
            <a:off x="2482453" y="4068365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Random_state: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42</a:t>
            </a:r>
            <a:endParaRPr sz="1350"/>
          </a:p>
        </p:txBody>
      </p:sp>
      <p:sp>
        <p:nvSpPr>
          <p:cNvPr id="218" name="Google Shape;218;p17"/>
          <p:cNvSpPr txBox="1"/>
          <p:nvPr/>
        </p:nvSpPr>
        <p:spPr>
          <a:xfrm>
            <a:off x="4972050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 Mean: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0.015</a:t>
            </a:r>
            <a:endParaRPr sz="1350"/>
          </a:p>
        </p:txBody>
      </p:sp>
      <p:sp>
        <p:nvSpPr>
          <p:cNvPr id="219" name="Google Shape;219;p17"/>
          <p:cNvSpPr txBox="1"/>
          <p:nvPr/>
        </p:nvSpPr>
        <p:spPr>
          <a:xfrm>
            <a:off x="6768703" y="1885950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ICIR: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0.101</a:t>
            </a:r>
            <a:endParaRPr sz="1350"/>
          </a:p>
        </p:txBody>
      </p:sp>
      <p:sp>
        <p:nvSpPr>
          <p:cNvPr id="220" name="Google Shape;220;p17"/>
          <p:cNvSpPr txBox="1"/>
          <p:nvPr/>
        </p:nvSpPr>
        <p:spPr>
          <a:xfrm>
            <a:off x="4972050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Sharpe: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1.02</a:t>
            </a:r>
            <a:endParaRPr sz="1350"/>
          </a:p>
        </p:txBody>
      </p:sp>
      <p:sp>
        <p:nvSpPr>
          <p:cNvPr id="221" name="Google Shape;221;p17"/>
          <p:cNvSpPr txBox="1"/>
          <p:nvPr/>
        </p:nvSpPr>
        <p:spPr>
          <a:xfrm>
            <a:off x="6768703" y="2260996"/>
            <a:ext cx="1689497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0F172A"/>
                </a:solidFill>
                <a:ea typeface="Inter SemiBold"/>
                <a:cs typeface="Inter SemiBold"/>
                <a:sym typeface="Inter SemiBold"/>
              </a:rPr>
              <a:t>Verdict:</a:t>
            </a: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 </a:t>
            </a:r>
            <a:r>
              <a:rPr lang="en-US" sz="956">
                <a:solidFill>
                  <a:srgbClr val="059669"/>
                </a:solidFill>
                <a:ea typeface="Inter SemiBold"/>
                <a:cs typeface="Inter SemiBold"/>
                <a:sym typeface="Inter SemiBold"/>
              </a:rPr>
              <a:t>Low Weight</a:t>
            </a:r>
            <a:endParaRPr sz="1350"/>
          </a:p>
        </p:txBody>
      </p:sp>
      <p:sp>
        <p:nvSpPr>
          <p:cNvPr id="222" name="Google Shape;222;p17"/>
          <p:cNvSpPr txBox="1"/>
          <p:nvPr/>
        </p:nvSpPr>
        <p:spPr>
          <a:xfrm>
            <a:off x="5114925" y="3064669"/>
            <a:ext cx="3343275" cy="44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Successfully learned from previous errors through its sequential nature.</a:t>
            </a:r>
            <a:endParaRPr sz="1350"/>
          </a:p>
        </p:txBody>
      </p:sp>
      <p:sp>
        <p:nvSpPr>
          <p:cNvPr id="223" name="Google Shape;223;p17"/>
          <p:cNvSpPr txBox="1"/>
          <p:nvPr/>
        </p:nvSpPr>
        <p:spPr>
          <a:xfrm>
            <a:off x="5114925" y="3500437"/>
            <a:ext cx="3343275" cy="441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Demonstrated superior capability in capturing non-linear interactions.</a:t>
            </a:r>
            <a:endParaRPr sz="1350"/>
          </a:p>
        </p:txBody>
      </p:sp>
      <p:sp>
        <p:nvSpPr>
          <p:cNvPr id="224" name="Google Shape;224;p17"/>
          <p:cNvSpPr txBox="1"/>
          <p:nvPr/>
        </p:nvSpPr>
        <p:spPr>
          <a:xfrm>
            <a:off x="5114925" y="4005849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>
                <a:solidFill>
                  <a:srgbClr val="334155"/>
                </a:solidFill>
                <a:ea typeface="Inter"/>
                <a:cs typeface="Inter"/>
                <a:sym typeface="Inter"/>
              </a:rPr>
              <a:t>Managed to extract some underlying structure from the noisy data.</a:t>
            </a:r>
            <a:endParaRPr sz="1350"/>
          </a:p>
        </p:txBody>
      </p:sp>
      <p:sp>
        <p:nvSpPr>
          <p:cNvPr id="225" name="Google Shape;225;p17"/>
          <p:cNvSpPr txBox="1"/>
          <p:nvPr/>
        </p:nvSpPr>
        <p:spPr>
          <a:xfrm>
            <a:off x="5136356" y="4285430"/>
            <a:ext cx="3343275" cy="22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9960"/>
              </a:lnSpc>
            </a:pPr>
            <a:r>
              <a:rPr lang="en-US" sz="956" dirty="0">
                <a:solidFill>
                  <a:srgbClr val="334155"/>
                </a:solidFill>
                <a:ea typeface="Inter"/>
                <a:cs typeface="Inter"/>
                <a:sym typeface="Inter"/>
              </a:rPr>
              <a:t>Performance is ultimately still capped by the weak financial signal.</a:t>
            </a:r>
            <a:endParaRPr sz="1350" dirty="0"/>
          </a:p>
        </p:txBody>
      </p:sp>
      <p:sp>
        <p:nvSpPr>
          <p:cNvPr id="226" name="Google Shape;226;p17"/>
          <p:cNvSpPr txBox="1"/>
          <p:nvPr/>
        </p:nvSpPr>
        <p:spPr>
          <a:xfrm>
            <a:off x="685800" y="192881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27" name="Google Shape;227;p17"/>
          <p:cNvSpPr txBox="1"/>
          <p:nvPr/>
        </p:nvSpPr>
        <p:spPr>
          <a:xfrm>
            <a:off x="685800" y="221456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28" name="Google Shape;228;p17"/>
          <p:cNvSpPr txBox="1"/>
          <p:nvPr/>
        </p:nvSpPr>
        <p:spPr>
          <a:xfrm>
            <a:off x="685800" y="2482721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29" name="Google Shape;229;p17"/>
          <p:cNvSpPr txBox="1"/>
          <p:nvPr/>
        </p:nvSpPr>
        <p:spPr>
          <a:xfrm>
            <a:off x="685800" y="2736324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30" name="Google Shape;230;p17"/>
          <p:cNvSpPr txBox="1"/>
          <p:nvPr/>
        </p:nvSpPr>
        <p:spPr>
          <a:xfrm>
            <a:off x="4972050" y="3107531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31" name="Google Shape;231;p17"/>
          <p:cNvSpPr txBox="1"/>
          <p:nvPr/>
        </p:nvSpPr>
        <p:spPr>
          <a:xfrm>
            <a:off x="4972050" y="3543300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32" name="Google Shape;232;p17"/>
          <p:cNvSpPr txBox="1"/>
          <p:nvPr/>
        </p:nvSpPr>
        <p:spPr>
          <a:xfrm>
            <a:off x="4995862" y="4048712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 dirty="0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 dirty="0"/>
          </a:p>
        </p:txBody>
      </p:sp>
      <p:sp>
        <p:nvSpPr>
          <p:cNvPr id="233" name="Google Shape;233;p17"/>
          <p:cNvSpPr txBox="1"/>
          <p:nvPr/>
        </p:nvSpPr>
        <p:spPr>
          <a:xfrm>
            <a:off x="4993481" y="4328293"/>
            <a:ext cx="42863" cy="129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63">
                <a:solidFill>
                  <a:srgbClr val="2563EB"/>
                </a:solidFill>
                <a:ea typeface="Inter"/>
                <a:cs typeface="Inter"/>
                <a:sym typeface="Inter"/>
              </a:rPr>
              <a:t>■</a:t>
            </a:r>
            <a:endParaRPr sz="1350"/>
          </a:p>
        </p:txBody>
      </p:sp>
      <p:sp>
        <p:nvSpPr>
          <p:cNvPr id="235" name="Google Shape;235;p17"/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Gradient Boosting Model Analysis</a:t>
            </a:r>
            <a:endParaRPr sz="13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9740AF85-A0C1-A360-E176-2B664E495531}"/>
              </a:ext>
            </a:extLst>
          </p:cNvPr>
          <p:cNvSpPr/>
          <p:nvPr/>
        </p:nvSpPr>
        <p:spPr>
          <a:xfrm>
            <a:off x="428625" y="191907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13688E5-A1EA-FFA9-8D13-55B80FA5DA1A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0FD88BA-0F89-30F9-CE90-FC39813D4181}"/>
              </a:ext>
            </a:extLst>
          </p:cNvPr>
          <p:cNvSpPr/>
          <p:nvPr/>
        </p:nvSpPr>
        <p:spPr>
          <a:xfrm>
            <a:off x="457200" y="987651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3EE0729F-E55D-1A45-127F-D6B815A9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>
            <a:extLst>
              <a:ext uri="{FF2B5EF4-FFF2-40B4-BE49-F238E27FC236}">
                <a16:creationId xmlns:a16="http://schemas.microsoft.com/office/drawing/2014/main" id="{0F8A18A6-330E-CEB8-6899-997BA7296F45}"/>
              </a:ext>
            </a:extLst>
          </p:cNvPr>
          <p:cNvSpPr txBox="1"/>
          <p:nvPr/>
        </p:nvSpPr>
        <p:spPr>
          <a:xfrm>
            <a:off x="428625" y="535782"/>
            <a:ext cx="8701088" cy="329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138" b="1" dirty="0">
                <a:solidFill>
                  <a:srgbClr val="1E293B"/>
                </a:solidFill>
                <a:ea typeface="Playfair Display"/>
                <a:cs typeface="Playfair Display"/>
                <a:sym typeface="Playfair Display"/>
              </a:rPr>
              <a:t>Gradient Boosting Model Analysis: Hyperparameter Tuning</a:t>
            </a:r>
            <a:endParaRPr sz="1350" dirty="0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C536EF9-DB93-2BC7-B8A8-D802B557F0F3}"/>
              </a:ext>
            </a:extLst>
          </p:cNvPr>
          <p:cNvSpPr/>
          <p:nvPr/>
        </p:nvSpPr>
        <p:spPr>
          <a:xfrm>
            <a:off x="428625" y="191907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B08C6F7E-E5AE-1B2F-9F44-E026954FECC7}"/>
              </a:ext>
            </a:extLst>
          </p:cNvPr>
          <p:cNvSpPr/>
          <p:nvPr/>
        </p:nvSpPr>
        <p:spPr>
          <a:xfrm>
            <a:off x="14287" y="-5759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19BFF89-1AEA-357F-3E37-D611E4CABAE3}"/>
              </a:ext>
            </a:extLst>
          </p:cNvPr>
          <p:cNvSpPr/>
          <p:nvPr/>
        </p:nvSpPr>
        <p:spPr>
          <a:xfrm>
            <a:off x="457200" y="987651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1A26F4-ADBB-B638-D56C-4496ED332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7420"/>
            <a:ext cx="3568252" cy="3664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E44E52-CB9A-AB6E-9673-C03013250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4721" y="1287419"/>
            <a:ext cx="4521139" cy="366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523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167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Model Comparison — target_5d Validation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All models evaluated on held-out validation set with non-overlapping 5-day periods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15568"/>
          <a:ext cx="7168896" cy="211836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 Mean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ICIR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 2023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 2024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Cum. Return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Max DD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ElasticNet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0.064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0.026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+80%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✓ Include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Lasso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0.060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+82%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✓ Include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Ridge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0.055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0.029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+58%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✓ Include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Gradient Boost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0.101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⚑ Low weight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0.002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-0.007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✗ Exclude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Decision Tree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0.003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0.011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-0.001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neg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✗ Exclude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SVR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~0.00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✗ Exclude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47472" y="3977640"/>
            <a:ext cx="8449056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Key Finding: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4023360"/>
            <a:ext cx="7059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Linear models dominate because cross-sectional z-scoring linearises the ranking task. Tree models cannot exploit nonlinear interactions in 14 normalised features on 100 stocks. This is theoretically consistent — the result is a finding, not a failure.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Model Comparison Chart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IC Mean · ICIR · Sharpe across all model families (target_5d validation)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3840480"/>
          </a:xfrm>
          <a:prstGeom prst="rect">
            <a:avLst/>
          </a:prstGeom>
          <a:noFill/>
          <a:ln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6D7E"/>
                </a:solidFill>
              </a:rPr>
              <a:t>[ Insert plot1_model_comparison.png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D6D7E"/>
                </a:solidFill>
              </a:rPr>
              <a:t>Note for presentation: replace placeholder with plot1_model_comparison.png from the plots/ folder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AA645F-B4B7-8AE4-9A6F-B55536B0F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822960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43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04 · MODELS &amp;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Signal Stability — IC Over Time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Per-period Spearman IC with 10-period rolling mean · 2023–2024 validation window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D6D7E"/>
                </a:solidFill>
              </a:rPr>
              <a:t>[ Insert plot2_ic_over_time.png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4526280"/>
            <a:ext cx="3931920" cy="5562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84048" y="4526280"/>
            <a:ext cx="109728" cy="5562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5308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2023: strong signal (IC ≈ 0.06)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895088"/>
            <a:ext cx="3675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Both years positive — confirms signal persistence across regimes.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462272" y="4526280"/>
            <a:ext cx="3931920" cy="55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62272" y="4530851"/>
            <a:ext cx="109728" cy="551685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26864" y="4530852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2024: signal decay (IC ≈ 0.026)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26864" y="4910328"/>
            <a:ext cx="3675888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Expected: factor crowding + 2024 bull run reduces cross-sectional dispersion.</a:t>
            </a:r>
            <a:endParaRPr lang="en-US" sz="10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52F2649-9AED-102B-DC91-FA89CD506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1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90000"/>
                  </a:srgbClr>
                </a:solidFill>
              </a:rPr>
              <a:t>05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Ensemble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Benchmarking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IC-weighted combination · SPY passive benchmark · naive baseline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6052" y="411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05 · ENSEMBLE &amp; BENCHMARKING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Ensemble 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IC-weighted combination consistent with quantitative industry practice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4133088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115568"/>
            <a:ext cx="64008" cy="3657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2070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Method: Two-Stage IC Weighting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60020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Stage 1 (2023 — weight window)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828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Estimate per-model IC on validation period 2023. Floor weights at zero — never penalise a model.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Stage 2 (2024 — reporting window)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65176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Apply fixed weights to 2024 test period. Report performance on data the weights never saw.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324612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Final Weights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47472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Ridge 40% · ElasticNet 60% · (GB below threshold after convergence testing)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4069080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</a:rPr>
              <a:t>Rationale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Weights proportional to signal quality. ElasticNet subsumes Lasso penalty with L2 stability — consistent with factor combination literature.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0016" y="1115568"/>
            <a:ext cx="4059936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0016" y="1115568"/>
            <a:ext cx="64008" cy="3657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120700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Ensemble vs Individual Models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0016" y="1536192"/>
          <a:ext cx="3749040" cy="147066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ICIR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Max DD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Ridge (val)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Lasso (val)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0.215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1.58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ElasticNet (val)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1.43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Ensemble (val)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0.041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0.214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1.97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Ensemble (test)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0.117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0.98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C2833"/>
                          </a:solidFill>
                        </a:rPr>
                        <a:t>-15%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4736592" y="4041648"/>
            <a:ext cx="3913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Ensemble achieves best Sharpe and lowest drawdown on validation.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5D6D7E"/>
                </a:solidFill>
              </a:rPr>
              <a:t>Test degradation is expected and confirms honest out-of-sample setup.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05 · ENSEMBLE &amp; BENCHMARKING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Out-of-Sample Results — Test Period 2024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Ensemble vs SPY buy-and-hold vs Naive Momentum baseline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4389120" cy="2926080"/>
          </a:xfrm>
          <a:prstGeom prst="rect">
            <a:avLst/>
          </a:prstGeom>
          <a:noFill/>
          <a:ln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</a:rPr>
              <a:t>[ Insert plot3_equity_curves.png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407822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Equity Curves — Ensemble / SPY / Naive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01184" y="1115568"/>
            <a:ext cx="3858768" cy="2926080"/>
          </a:xfrm>
          <a:prstGeom prst="rect">
            <a:avLst/>
          </a:prstGeom>
          <a:noFill/>
          <a:ln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D6D7E"/>
                </a:solidFill>
              </a:rPr>
              <a:t>[ Insert plot6_drawdown.png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01184" y="4078224"/>
            <a:ext cx="38587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Drawdown — Ensemble vs SPY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336" y="4309206"/>
            <a:ext cx="1911096" cy="71999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4042" y="4392996"/>
            <a:ext cx="1337944" cy="14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+21.1%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22937" y="4684832"/>
            <a:ext cx="1557938" cy="14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</a:rPr>
              <a:t>Ensemble Cumret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877" y="4887468"/>
            <a:ext cx="1557938" cy="1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test 2024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423160" y="4300760"/>
            <a:ext cx="1813970" cy="72844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91125" y="4341863"/>
            <a:ext cx="1557938" cy="289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D6D7E"/>
                </a:solidFill>
              </a:rPr>
              <a:t>+26.4%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522015" y="4713833"/>
            <a:ext cx="1557938" cy="14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</a:rPr>
              <a:t>SPY Cumret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91125" y="4887468"/>
            <a:ext cx="1557938" cy="1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buy &amp; hold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14823" y="4300759"/>
            <a:ext cx="1696827" cy="728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484267" y="4364027"/>
            <a:ext cx="1557938" cy="289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</a:rPr>
              <a:t>0.98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53712" y="4716715"/>
            <a:ext cx="1557938" cy="14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</a:rPr>
              <a:t>Ensemble Sharpe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84267" y="4895153"/>
            <a:ext cx="1557938" cy="1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vs SPY ~1.05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53935" y="4300758"/>
            <a:ext cx="1759106" cy="72844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54519" y="4364026"/>
            <a:ext cx="1557938" cy="2895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74C3C"/>
                </a:solidFill>
              </a:rPr>
              <a:t>-15.1%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54519" y="4747373"/>
            <a:ext cx="1557938" cy="14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833"/>
                </a:solidFill>
              </a:rPr>
              <a:t>Max Drawdown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54519" y="4895153"/>
            <a:ext cx="1557938" cy="102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D7E"/>
                </a:solidFill>
              </a:rPr>
              <a:t>ensemble test</a:t>
            </a:r>
            <a:endParaRPr lang="en-US" sz="8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73F025F-51EA-BBDE-3638-294988489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9" y="1101853"/>
            <a:ext cx="4389120" cy="2948242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0CA2B39-363C-2355-D026-1EBDC2B7B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1124015"/>
            <a:ext cx="3858768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502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05 · ENSEMBLE &amp; BENCHMARKING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Validation vs Test — Honest Degradation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Performance drop from val to test is expected and confirms no data leakage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5303520" cy="3474720"/>
          </a:xfrm>
          <a:prstGeom prst="rect">
            <a:avLst/>
          </a:prstGeom>
          <a:noFill/>
          <a:ln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D6D7E"/>
                </a:solidFill>
              </a:rPr>
              <a:t>[ Insert plot4_val_vs_test.png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70448" y="1115568"/>
            <a:ext cx="28895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70448" y="1115568"/>
            <a:ext cx="64008" cy="1170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35040" y="12070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IC: 0.065 → 0.024 (0.37×)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499616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Expected signal decay. 2024 was a stronger trending market — cross-sectional dispersion is lower, making ranking harder.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70448" y="2414016"/>
            <a:ext cx="28895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70448" y="2414016"/>
            <a:ext cx="64008" cy="117043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50545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ICIR: 0.322 → 0.117 (0.36×)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2798064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Higher noise in 2024. Signal still positive and consistent — 56% of periods had positive IC.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70448" y="3712464"/>
            <a:ext cx="2889504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70448" y="3712464"/>
            <a:ext cx="64008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035040" y="380390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Sharpe: 1.97 → 0.98 (0.50×)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35040" y="4096512"/>
            <a:ext cx="26334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Halved but still near 1.0. A project that only reports validation Sharpe is hiding the real performance.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" y="4736592"/>
            <a:ext cx="8375904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47457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6EAF8"/>
                </a:solidFill>
              </a:rPr>
              <a:t>Projects that report only validation metrics are overstating performance. Our test Sharpe of 0.98 is the honest number.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A01F753-6E78-0A39-76AE-15DFA6C3F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537" y="1115569"/>
            <a:ext cx="5303520" cy="355740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3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05 · ENSEMBLE &amp; BENCHMARKING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Feature Importance — Gradient Boosting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What signals drive predictions — and why they differ from linear model coefficients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69033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115568"/>
            <a:ext cx="5029200" cy="3474720"/>
          </a:xfrm>
          <a:prstGeom prst="rect">
            <a:avLst/>
          </a:prstGeom>
          <a:noFill/>
          <a:ln>
            <a:solidFill>
              <a:srgbClr val="CCCCCC"/>
            </a:solidFill>
            <a:prstDash val="dash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D6D7E"/>
                </a:solidFill>
              </a:rPr>
              <a:t>[ Insert plot5_feature_importance.png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96128" y="1051022"/>
            <a:ext cx="31638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6128" y="1051022"/>
            <a:ext cx="64008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60720" y="114246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Volatility Regime (25%)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0" y="143507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GB identifies market regime as the dominant signal. Not a return signal — a context signal.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96128" y="1828262"/>
            <a:ext cx="31638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596128" y="1828262"/>
            <a:ext cx="64008" cy="6858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760720" y="191970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Volume (20%)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221231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Unusual activity precedes directional moves. GB captures this nonlinearly.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96128" y="2605502"/>
            <a:ext cx="31638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96128" y="2605502"/>
            <a:ext cx="64008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0" y="269694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Trend Consistency (12%)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298955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Multi-period directional agreement. Consistent trends are more predictable.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96128" y="3382742"/>
            <a:ext cx="31638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96128" y="3382742"/>
            <a:ext cx="64008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3474182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20-Day Volatility (11%)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3766790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Risk adjustment filter. High-volatility stocks are noisier signals.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596128" y="4159982"/>
            <a:ext cx="31638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96128" y="4159982"/>
            <a:ext cx="64008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56148" y="4164081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Linear models use return signals most heavily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79008" y="4690334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Ridge/ElasticNet coefficients load most on 5-day and 20-day return — direct momentum. GB finds structure in regime and liquidity that linear models miss — explaining their partial complementarity in the ensemble.</a:t>
            </a:r>
            <a:endParaRPr lang="en-US" sz="105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98847AD-68DD-58C7-A9AE-FA7FCD4AB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4044"/>
            <a:ext cx="5029200" cy="374599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>
                    <a:alpha val="90000"/>
                  </a:srgbClr>
                </a:solidFill>
              </a:rPr>
              <a:t>06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Conclusion &amp;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Limitations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What we proved · what we cannot claim · what comes next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06 · CONCLUSION &amp;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What We Proved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Results that hold on genuinely out-of-sample 2024 test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115568"/>
            <a:ext cx="41330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115568"/>
            <a:ext cx="4133088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" y="11887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real, statistically significant alpha signal exists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1572768"/>
            <a:ext cx="3913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Test IC = 0.024 with 56% positive periods. IC t-stat ≈ 4.9 (p &lt; 0.001). The signal is weak but real — consistent with published cross-sectional equity literature (Hou et al., 2021; IC range 0.015–0.035).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944368"/>
            <a:ext cx="41330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944368"/>
            <a:ext cx="4133088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" y="30175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 models outperform tree-based models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3401568"/>
            <a:ext cx="3913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Ridge, Lasso, and ElasticNet all significantly outperform RF, Decision Tree, and GB on this dataset. Cross-sectional z-scoring linearises the task. This is a finding about the data structure, not a limitation.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115568"/>
            <a:ext cx="41330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1115568"/>
            <a:ext cx="4133088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82896" y="11887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Ensemble improves risk-adjusted performance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82896" y="1572768"/>
            <a:ext cx="3913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IC-weighted ensemble achieves the best Sharpe (1.97 val, 0.98 test) and lowest drawdown (-8% val, -15% test) compared to any individual component model.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44368"/>
            <a:ext cx="413308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54880" y="2944368"/>
            <a:ext cx="4133088" cy="38404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82896" y="3017520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Market-neutral strategy generates comparable alpha to SPY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82896" y="3401568"/>
            <a:ext cx="39136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Test Sharpe of 0.98 vs SPY Sharpe ~1.05 on the same period. Returns come from cross-sectional stock selection (alpha), not market beta. Naive momentum baseline lost 44% over the same period.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6052" y="73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8090"/>
                </a:solidFill>
              </a:rPr>
              <a:t>06 · CONCLUSION &amp; LIMITATIONS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Limitations — What We Cannot Claim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</a:rPr>
              <a:t>Academic honesty is part of good machine learning practice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713232"/>
            <a:ext cx="822960" cy="411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D6D7E"/>
                </a:solidFill>
              </a:rPr>
              <a:t>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" y="1143000"/>
            <a:ext cx="41330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143000"/>
            <a:ext cx="64008" cy="11155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69664" y="1170432"/>
            <a:ext cx="822960" cy="237744"/>
          </a:xfrm>
          <a:prstGeom prst="rect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87952" y="117957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2833"/>
                </a:solidFill>
              </a:rPr>
              <a:t>High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66928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Survivorship Bias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146304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yfinance returns only current S&amp;P 100 constituents. Stocks delisted or removed between 2015 and 2023 are invisible. This biases all returns upward by an unknown but non-trivial amount. Correcting this requires Bloomberg/Compustat historical constituent data.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2404872"/>
            <a:ext cx="41330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" y="2404872"/>
            <a:ext cx="64008" cy="11155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9664" y="2432304"/>
            <a:ext cx="822960" cy="237744"/>
          </a:xfrm>
          <a:prstGeom prst="rect">
            <a:avLst/>
          </a:prstGeom>
          <a:solidFill>
            <a:srgbClr val="F0B429">
              <a:alpha val="20000"/>
            </a:srgbClr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87952" y="24414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2833"/>
                </a:solidFill>
              </a:rPr>
              <a:t>Medium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Thin Universe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272491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100 stocks gives high IC variance per period. Professional cross-sectional strategies use 500–3000 stocks. Our ICIR of 0.117 (test) would likely be higher on a larger universe with the same signal.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4048" y="3666744"/>
            <a:ext cx="41330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666744"/>
            <a:ext cx="64008" cy="11155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69664" y="3694176"/>
            <a:ext cx="822960" cy="237744"/>
          </a:xfrm>
          <a:prstGeom prst="rect">
            <a:avLst/>
          </a:prstGeom>
          <a:solidFill>
            <a:srgbClr val="F0B429">
              <a:alpha val="20000"/>
            </a:srgbClr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87952" y="37033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2833"/>
                </a:solidFill>
              </a:rPr>
              <a:t>Medium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928" y="3712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Single Train/Test Split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986784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We use one chronological split rather than rolling walk-forward retraining. A real deployment would retrain periodically. Results may overstate stability of the signal on a single fixed model.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143000"/>
            <a:ext cx="41330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1143000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40496" y="1170432"/>
            <a:ext cx="822960" cy="23774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58784" y="1179576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2833"/>
                </a:solidFill>
              </a:rPr>
              <a:t>Low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No Position Sizing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1463040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Equal-weight top-10 / bottom-10 ignores conviction. A real strategy would size positions by predicted return magnitude or by IC-adjusted signal strength.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404872"/>
            <a:ext cx="41330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54880" y="2404872"/>
            <a:ext cx="64008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540496" y="2432304"/>
            <a:ext cx="822960" cy="237744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58784" y="244144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2833"/>
                </a:solidFill>
              </a:rPr>
              <a:t>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937760" y="24505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Transaction Cost Estimate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37760" y="2724912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10 bps per trade is a reasonable estimate but varies by liquidity, market impact, and broker. Large-cap S&amp;P 100 stocks have tighter spreads — 5 bps may be more accurate.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3666744"/>
            <a:ext cx="4133088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3666744"/>
            <a:ext cx="64008" cy="11155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540496" y="3694176"/>
            <a:ext cx="822960" cy="237744"/>
          </a:xfrm>
          <a:prstGeom prst="rect">
            <a:avLst/>
          </a:prstGeom>
          <a:solidFill>
            <a:srgbClr val="F0B429">
              <a:alpha val="20000"/>
            </a:srgbClr>
          </a:solidFill>
          <a:ln w="12700">
            <a:solidFill>
              <a:srgbClr val="F0B4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58784" y="37033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C2833"/>
                </a:solidFill>
              </a:rPr>
              <a:t>Medium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937760" y="3712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Test Set Size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3986784"/>
            <a:ext cx="3858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</a:rPr>
              <a:t>50 non-overlapping weekly periods in the test set is statistically thin. Confidence intervals on the test Sharpe of 0.98 are wide — the true out-of-sample Sharpe could range from 0.4 to 1.5.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AF8"/>
                </a:solidFill>
              </a:rPr>
              <a:t>Cross-Sectional Equity Return Prediction  ·  Machine Learning Final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50876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0.041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IC Mean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(validation)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21408" y="2011680"/>
            <a:ext cx="150876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21408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0.024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121408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IC Mean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(test, OOS)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85616" y="2011680"/>
            <a:ext cx="150876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85616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0.98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85616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Sharpe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(test 2024)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9824" y="2011680"/>
            <a:ext cx="150876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49824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+21%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49824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Cumulative Return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(test, market-neutral)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14032" y="2011680"/>
            <a:ext cx="1508760" cy="13716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14032" y="21031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</a:rPr>
              <a:t>8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14032" y="27432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Model Families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6EAF8"/>
                </a:solidFill>
              </a:rPr>
              <a:t>Evaluated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6EAF8"/>
                </a:solidFill>
              </a:rPr>
              <a:t>Live demo available — Streamlit dashboard with interactive date selector and weekly stock rankings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24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AF8"/>
                </a:solidFill>
              </a:rPr>
              <a:t>Ali Dib  ·  Chris Wehbe  ·  Anthony Charbel  ·  Kevin Khoury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3465</Words>
  <Application>Microsoft Office PowerPoint</Application>
  <PresentationFormat>On-screen Show (16:9)</PresentationFormat>
  <Paragraphs>631</Paragraphs>
  <Slides>33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Consolas</vt:lpstr>
      <vt:lpstr>Inter</vt:lpstr>
      <vt:lpstr>Inter SemiBold</vt:lpstr>
      <vt:lpstr>Playfair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Cross-Sectional Equity Return Prediction</dc:title>
  <dc:subject>PptxGenJS Presentation</dc:subject>
  <dc:creator>Ali Dib, Chris Wehbe, Anthony Charbel, Kevin Khoury</dc:creator>
  <cp:lastModifiedBy>Ali Dib</cp:lastModifiedBy>
  <cp:revision>10</cp:revision>
  <dcterms:created xsi:type="dcterms:W3CDTF">2026-04-17T18:57:06Z</dcterms:created>
  <dcterms:modified xsi:type="dcterms:W3CDTF">2026-04-24T20:48:06Z</dcterms:modified>
</cp:coreProperties>
</file>